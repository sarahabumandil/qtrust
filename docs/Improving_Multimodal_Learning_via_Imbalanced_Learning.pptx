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158"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1969"/>
    <a:srgbClr val="4D308C"/>
    <a:srgbClr val="341C52"/>
    <a:srgbClr val="4F3C67"/>
    <a:srgbClr val="442A65"/>
    <a:srgbClr val="853C95"/>
    <a:srgbClr val="D9DFE7"/>
    <a:srgbClr val="415DA6"/>
    <a:srgbClr val="FFD9C8"/>
    <a:srgbClr val="6F6F6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751" autoAdjust="0"/>
    <p:restoredTop sz="90000" autoAdjust="0"/>
  </p:normalViewPr>
  <p:slideViewPr>
    <p:cSldViewPr snapToGrid="0" snapToObjects="1">
      <p:cViewPr varScale="1">
        <p:scale>
          <a:sx n="74" d="100"/>
          <a:sy n="74" d="100"/>
        </p:scale>
        <p:origin x="1142" y="72"/>
      </p:cViewPr>
      <p:guideLst>
        <p:guide orient="horz" pos="3158"/>
        <p:guide pos="3840"/>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792DBCE-BE51-4D79-9782-75D1E15A386B}" type="datetimeFigureOut">
              <a:rPr lang="en-GB" smtClean="0"/>
              <a:t>19/06/2026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829638D-49A3-4E01-B6C2-EE0CDAE514BE}" type="slidenum">
              <a:rPr lang="en-GB" smtClean="0"/>
              <a:t>‹#›</a:t>
            </a:fld>
            <a:endParaRPr lang="en-GB"/>
          </a:p>
        </p:txBody>
      </p:sp>
    </p:spTree>
    <p:extLst>
      <p:ext uri="{BB962C8B-B14F-4D97-AF65-F5344CB8AC3E}">
        <p14:creationId xmlns:p14="http://schemas.microsoft.com/office/powerpoint/2010/main" val="39043818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EA2FDC-D27E-F945-9098-B72E06982930}"/>
              </a:ext>
            </a:extLst>
          </p:cNvPr>
          <p:cNvSpPr>
            <a:spLocks noGrp="1"/>
          </p:cNvSpPr>
          <p:nvPr>
            <p:ph type="ctrTitle"/>
          </p:nvPr>
        </p:nvSpPr>
        <p:spPr>
          <a:xfrm>
            <a:off x="728470" y="433669"/>
            <a:ext cx="10735058" cy="2007704"/>
          </a:xfrm>
        </p:spPr>
        <p:txBody>
          <a:bodyPr anchor="b">
            <a:normAutofit/>
          </a:bodyPr>
          <a:lstStyle>
            <a:lvl1pPr algn="ctr">
              <a:lnSpc>
                <a:spcPct val="130000"/>
              </a:lnSpc>
              <a:defRPr sz="3600" b="1" i="0" baseline="0">
                <a:solidFill>
                  <a:schemeClr val="bg1"/>
                </a:solidFill>
                <a:latin typeface="Merriweather Sans" panose="02000503060000020004" pitchFamily="2" charset="77"/>
              </a:defRPr>
            </a:lvl1pPr>
          </a:lstStyle>
          <a:p>
            <a:endParaRPr lang="en-US" dirty="0"/>
          </a:p>
        </p:txBody>
      </p:sp>
      <p:sp>
        <p:nvSpPr>
          <p:cNvPr id="3" name="Subtitle 2">
            <a:extLst>
              <a:ext uri="{FF2B5EF4-FFF2-40B4-BE49-F238E27FC236}">
                <a16:creationId xmlns:a16="http://schemas.microsoft.com/office/drawing/2014/main" id="{5F084780-5AB1-F64E-984A-22E1C12ABAEA}"/>
              </a:ext>
            </a:extLst>
          </p:cNvPr>
          <p:cNvSpPr>
            <a:spLocks noGrp="1"/>
          </p:cNvSpPr>
          <p:nvPr>
            <p:ph type="subTitle" idx="1"/>
          </p:nvPr>
        </p:nvSpPr>
        <p:spPr>
          <a:xfrm>
            <a:off x="728470" y="2713383"/>
            <a:ext cx="10735058" cy="2007704"/>
          </a:xfrm>
        </p:spPr>
        <p:txBody>
          <a:bodyPr>
            <a:normAutofit/>
          </a:bodyPr>
          <a:lstStyle>
            <a:lvl1pPr marL="0" indent="0" algn="l">
              <a:lnSpc>
                <a:spcPct val="120000"/>
              </a:lnSpc>
              <a:spcBef>
                <a:spcPts val="0"/>
              </a:spcBef>
              <a:buNone/>
              <a:defRPr sz="2000" baseline="0">
                <a:solidFill>
                  <a:schemeClr val="bg1"/>
                </a:solidFill>
                <a:latin typeface="Merriweather Sans" panose="02000503060000020004" pitchFamily="2" charset="77"/>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US" dirty="0"/>
          </a:p>
        </p:txBody>
      </p:sp>
      <p:sp>
        <p:nvSpPr>
          <p:cNvPr id="11" name="Text Placeholder 10">
            <a:extLst>
              <a:ext uri="{FF2B5EF4-FFF2-40B4-BE49-F238E27FC236}">
                <a16:creationId xmlns:a16="http://schemas.microsoft.com/office/drawing/2014/main" id="{4FBC4D4A-B790-F24F-BEC0-A8ADDFB2EFD5}"/>
              </a:ext>
            </a:extLst>
          </p:cNvPr>
          <p:cNvSpPr>
            <a:spLocks noGrp="1"/>
          </p:cNvSpPr>
          <p:nvPr>
            <p:ph type="body" sz="quarter" idx="10" hasCustomPrompt="1"/>
          </p:nvPr>
        </p:nvSpPr>
        <p:spPr>
          <a:xfrm>
            <a:off x="728663" y="4969565"/>
            <a:ext cx="4238625" cy="1529660"/>
          </a:xfrm>
        </p:spPr>
        <p:txBody>
          <a:bodyPr>
            <a:normAutofit/>
          </a:bodyPr>
          <a:lstStyle>
            <a:lvl1pPr marL="0" indent="0">
              <a:lnSpc>
                <a:spcPct val="120000"/>
              </a:lnSpc>
              <a:spcBef>
                <a:spcPts val="0"/>
              </a:spcBef>
              <a:buFontTx/>
              <a:buNone/>
              <a:defRPr sz="1800" baseline="0">
                <a:solidFill>
                  <a:schemeClr val="bg1"/>
                </a:solidFill>
                <a:latin typeface="Merriweather Sans" panose="02000503060000020004" pitchFamily="2" charset="77"/>
              </a:defRPr>
            </a:lvl1pPr>
          </a:lstStyle>
          <a:p>
            <a:pPr lvl="0"/>
            <a:r>
              <a:rPr lang="en-US" dirty="0"/>
              <a:t>Author</a:t>
            </a:r>
          </a:p>
          <a:p>
            <a:pPr lvl="0"/>
            <a:r>
              <a:rPr lang="en-US" dirty="0"/>
              <a:t>Year</a:t>
            </a:r>
          </a:p>
          <a:p>
            <a:pPr lvl="0"/>
            <a:r>
              <a:rPr lang="en-US" dirty="0"/>
              <a:t>DOI</a:t>
            </a:r>
          </a:p>
        </p:txBody>
      </p:sp>
    </p:spTree>
    <p:extLst>
      <p:ext uri="{BB962C8B-B14F-4D97-AF65-F5344CB8AC3E}">
        <p14:creationId xmlns:p14="http://schemas.microsoft.com/office/powerpoint/2010/main" val="7196855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Key_concepts">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FC0E5861-BB4E-3045-9035-4C575A7CEE1B}"/>
              </a:ext>
            </a:extLst>
          </p:cNvPr>
          <p:cNvSpPr txBox="1">
            <a:spLocks/>
          </p:cNvSpPr>
          <p:nvPr userDrawn="1"/>
        </p:nvSpPr>
        <p:spPr>
          <a:xfrm>
            <a:off x="0" y="0"/>
            <a:ext cx="12192000" cy="1160585"/>
          </a:xfrm>
          <a:prstGeom prst="rect">
            <a:avLst/>
          </a:prstGeom>
          <a:solidFill>
            <a:srgbClr val="331969"/>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endParaRPr lang="en-GB" sz="3600" b="1" dirty="0">
              <a:solidFill>
                <a:schemeClr val="bg1"/>
              </a:solidFill>
              <a:latin typeface="MerriweatherSans-Book" panose="02000503060000020004" pitchFamily="2" charset="77"/>
            </a:endParaRPr>
          </a:p>
        </p:txBody>
      </p:sp>
      <p:sp>
        <p:nvSpPr>
          <p:cNvPr id="2" name="Title 1">
            <a:extLst>
              <a:ext uri="{FF2B5EF4-FFF2-40B4-BE49-F238E27FC236}">
                <a16:creationId xmlns:a16="http://schemas.microsoft.com/office/drawing/2014/main" id="{1C523BF2-011A-324A-8F68-658B42DB81BC}"/>
              </a:ext>
            </a:extLst>
          </p:cNvPr>
          <p:cNvSpPr>
            <a:spLocks noGrp="1"/>
          </p:cNvSpPr>
          <p:nvPr>
            <p:ph type="title" hasCustomPrompt="1"/>
          </p:nvPr>
        </p:nvSpPr>
        <p:spPr>
          <a:xfrm>
            <a:off x="0" y="0"/>
            <a:ext cx="12192000" cy="1325563"/>
          </a:xfrm>
        </p:spPr>
        <p:txBody>
          <a:bodyPr>
            <a:normAutofit/>
          </a:bodyPr>
          <a:lstStyle>
            <a:lvl1pPr algn="ctr">
              <a:lnSpc>
                <a:spcPct val="110000"/>
              </a:lnSpc>
              <a:defRPr sz="3600" baseline="0">
                <a:solidFill>
                  <a:schemeClr val="bg1"/>
                </a:solidFill>
                <a:latin typeface="Merriweather Sans" panose="02000503060000020004" pitchFamily="2" charset="77"/>
              </a:defRPr>
            </a:lvl1pPr>
          </a:lstStyle>
          <a:p>
            <a:r>
              <a:rPr lang="en-US" dirty="0"/>
              <a:t>Key concepts</a:t>
            </a:r>
          </a:p>
        </p:txBody>
      </p:sp>
      <p:sp>
        <p:nvSpPr>
          <p:cNvPr id="7" name="Text Placeholder 3">
            <a:extLst>
              <a:ext uri="{FF2B5EF4-FFF2-40B4-BE49-F238E27FC236}">
                <a16:creationId xmlns:a16="http://schemas.microsoft.com/office/drawing/2014/main" id="{5BB611BF-C83D-5247-8A2B-24BB94FE04CC}"/>
              </a:ext>
            </a:extLst>
          </p:cNvPr>
          <p:cNvSpPr>
            <a:spLocks noGrp="1"/>
          </p:cNvSpPr>
          <p:nvPr>
            <p:ph type="body" sz="half" idx="2"/>
          </p:nvPr>
        </p:nvSpPr>
        <p:spPr>
          <a:xfrm>
            <a:off x="0" y="1594022"/>
            <a:ext cx="12192000" cy="4274966"/>
          </a:xfrm>
        </p:spPr>
        <p:txBody>
          <a:bodyPr lIns="720000" rIns="720000" numCol="2" spcCol="36000">
            <a:normAutofit/>
          </a:bodyPr>
          <a:lstStyle>
            <a:lvl1pPr marL="284400" indent="-284400">
              <a:lnSpc>
                <a:spcPct val="150000"/>
              </a:lnSpc>
              <a:spcBef>
                <a:spcPts val="0"/>
              </a:spcBef>
              <a:buFont typeface="Arial" panose="020B0604020202020204" pitchFamily="34" charset="0"/>
              <a:buChar char="•"/>
              <a:defRPr sz="1600" baseline="0">
                <a:solidFill>
                  <a:schemeClr val="bg1"/>
                </a:solidFill>
                <a:latin typeface="Merriweather Sans" panose="02000503060000020004" pitchFamily="2" charset="77"/>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endParaRPr lang="en-US" dirty="0"/>
          </a:p>
        </p:txBody>
      </p:sp>
    </p:spTree>
    <p:extLst>
      <p:ext uri="{BB962C8B-B14F-4D97-AF65-F5344CB8AC3E}">
        <p14:creationId xmlns:p14="http://schemas.microsoft.com/office/powerpoint/2010/main" val="23242251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_Abstract">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FC0E5861-BB4E-3045-9035-4C575A7CEE1B}"/>
              </a:ext>
            </a:extLst>
          </p:cNvPr>
          <p:cNvSpPr txBox="1">
            <a:spLocks/>
          </p:cNvSpPr>
          <p:nvPr userDrawn="1"/>
        </p:nvSpPr>
        <p:spPr>
          <a:xfrm>
            <a:off x="0" y="0"/>
            <a:ext cx="12192000" cy="1160585"/>
          </a:xfrm>
          <a:prstGeom prst="rect">
            <a:avLst/>
          </a:prstGeom>
          <a:solidFill>
            <a:srgbClr val="331969"/>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endParaRPr lang="en-GB" sz="3600" b="1" dirty="0">
              <a:solidFill>
                <a:schemeClr val="bg1"/>
              </a:solidFill>
              <a:latin typeface="MerriweatherSans-Book" panose="02000503060000020004" pitchFamily="2" charset="77"/>
            </a:endParaRPr>
          </a:p>
        </p:txBody>
      </p:sp>
      <p:sp>
        <p:nvSpPr>
          <p:cNvPr id="2" name="Title 1">
            <a:extLst>
              <a:ext uri="{FF2B5EF4-FFF2-40B4-BE49-F238E27FC236}">
                <a16:creationId xmlns:a16="http://schemas.microsoft.com/office/drawing/2014/main" id="{1C523BF2-011A-324A-8F68-658B42DB81BC}"/>
              </a:ext>
            </a:extLst>
          </p:cNvPr>
          <p:cNvSpPr>
            <a:spLocks noGrp="1"/>
          </p:cNvSpPr>
          <p:nvPr>
            <p:ph type="title" hasCustomPrompt="1"/>
          </p:nvPr>
        </p:nvSpPr>
        <p:spPr>
          <a:xfrm>
            <a:off x="0" y="0"/>
            <a:ext cx="12192000" cy="1325563"/>
          </a:xfrm>
        </p:spPr>
        <p:txBody>
          <a:bodyPr>
            <a:normAutofit/>
          </a:bodyPr>
          <a:lstStyle>
            <a:lvl1pPr algn="ctr">
              <a:lnSpc>
                <a:spcPct val="110000"/>
              </a:lnSpc>
              <a:defRPr sz="3600" baseline="0">
                <a:solidFill>
                  <a:schemeClr val="bg1"/>
                </a:solidFill>
                <a:latin typeface="Merriweather Sans" panose="02000503060000020004" pitchFamily="2" charset="77"/>
              </a:defRPr>
            </a:lvl1pPr>
          </a:lstStyle>
          <a:p>
            <a:r>
              <a:rPr lang="en-US" dirty="0"/>
              <a:t>Abstract</a:t>
            </a:r>
          </a:p>
        </p:txBody>
      </p:sp>
      <p:sp>
        <p:nvSpPr>
          <p:cNvPr id="7" name="Text Placeholder 3">
            <a:extLst>
              <a:ext uri="{FF2B5EF4-FFF2-40B4-BE49-F238E27FC236}">
                <a16:creationId xmlns:a16="http://schemas.microsoft.com/office/drawing/2014/main" id="{5BB611BF-C83D-5247-8A2B-24BB94FE04CC}"/>
              </a:ext>
            </a:extLst>
          </p:cNvPr>
          <p:cNvSpPr>
            <a:spLocks noGrp="1"/>
          </p:cNvSpPr>
          <p:nvPr>
            <p:ph type="body" sz="half" idx="2"/>
          </p:nvPr>
        </p:nvSpPr>
        <p:spPr>
          <a:xfrm>
            <a:off x="0" y="1594022"/>
            <a:ext cx="12192000" cy="4274966"/>
          </a:xfrm>
        </p:spPr>
        <p:txBody>
          <a:bodyPr lIns="720000" rIns="720000" numCol="1" spcCol="36000">
            <a:normAutofit/>
          </a:bodyPr>
          <a:lstStyle>
            <a:lvl1pPr marL="0" indent="0">
              <a:lnSpc>
                <a:spcPct val="150000"/>
              </a:lnSpc>
              <a:spcBef>
                <a:spcPts val="0"/>
              </a:spcBef>
              <a:buFontTx/>
              <a:buNone/>
              <a:defRPr sz="1600" baseline="0">
                <a:solidFill>
                  <a:schemeClr val="bg1"/>
                </a:solidFill>
                <a:latin typeface="Merriweather Sans" panose="02000503060000020004" pitchFamily="2" charset="77"/>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endParaRPr lang="en-US" dirty="0"/>
          </a:p>
        </p:txBody>
      </p:sp>
    </p:spTree>
    <p:extLst>
      <p:ext uri="{BB962C8B-B14F-4D97-AF65-F5344CB8AC3E}">
        <p14:creationId xmlns:p14="http://schemas.microsoft.com/office/powerpoint/2010/main" val="13284727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4_Comparative_analysis">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FC0E5861-BB4E-3045-9035-4C575A7CEE1B}"/>
              </a:ext>
            </a:extLst>
          </p:cNvPr>
          <p:cNvSpPr txBox="1">
            <a:spLocks/>
          </p:cNvSpPr>
          <p:nvPr userDrawn="1"/>
        </p:nvSpPr>
        <p:spPr>
          <a:xfrm>
            <a:off x="0" y="0"/>
            <a:ext cx="12192000" cy="1160585"/>
          </a:xfrm>
          <a:prstGeom prst="rect">
            <a:avLst/>
          </a:prstGeom>
          <a:solidFill>
            <a:srgbClr val="331969"/>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endParaRPr lang="en-GB" sz="3600" b="1" dirty="0">
              <a:solidFill>
                <a:schemeClr val="bg1"/>
              </a:solidFill>
              <a:latin typeface="MerriweatherSans-Book" panose="02000503060000020004" pitchFamily="2" charset="77"/>
            </a:endParaRPr>
          </a:p>
        </p:txBody>
      </p:sp>
      <p:sp>
        <p:nvSpPr>
          <p:cNvPr id="2" name="Title 1">
            <a:extLst>
              <a:ext uri="{FF2B5EF4-FFF2-40B4-BE49-F238E27FC236}">
                <a16:creationId xmlns:a16="http://schemas.microsoft.com/office/drawing/2014/main" id="{1C523BF2-011A-324A-8F68-658B42DB81BC}"/>
              </a:ext>
            </a:extLst>
          </p:cNvPr>
          <p:cNvSpPr>
            <a:spLocks noGrp="1"/>
          </p:cNvSpPr>
          <p:nvPr>
            <p:ph type="title" hasCustomPrompt="1"/>
          </p:nvPr>
        </p:nvSpPr>
        <p:spPr>
          <a:xfrm>
            <a:off x="0" y="0"/>
            <a:ext cx="12192000" cy="1325563"/>
          </a:xfrm>
        </p:spPr>
        <p:txBody>
          <a:bodyPr>
            <a:normAutofit/>
          </a:bodyPr>
          <a:lstStyle>
            <a:lvl1pPr algn="ctr">
              <a:lnSpc>
                <a:spcPct val="110000"/>
              </a:lnSpc>
              <a:defRPr sz="3600" baseline="0">
                <a:solidFill>
                  <a:schemeClr val="bg1"/>
                </a:solidFill>
                <a:latin typeface="Merriweather Sans" panose="02000503060000020004" pitchFamily="2" charset="77"/>
              </a:defRPr>
            </a:lvl1pPr>
          </a:lstStyle>
          <a:p>
            <a:r>
              <a:rPr lang="en-US" dirty="0"/>
              <a:t>Comparative analysis</a:t>
            </a:r>
          </a:p>
        </p:txBody>
      </p:sp>
      <p:sp>
        <p:nvSpPr>
          <p:cNvPr id="7" name="Text Placeholder 3">
            <a:extLst>
              <a:ext uri="{FF2B5EF4-FFF2-40B4-BE49-F238E27FC236}">
                <a16:creationId xmlns:a16="http://schemas.microsoft.com/office/drawing/2014/main" id="{5BB611BF-C83D-5247-8A2B-24BB94FE04CC}"/>
              </a:ext>
            </a:extLst>
          </p:cNvPr>
          <p:cNvSpPr>
            <a:spLocks noGrp="1"/>
          </p:cNvSpPr>
          <p:nvPr>
            <p:ph type="body" sz="half" idx="2"/>
          </p:nvPr>
        </p:nvSpPr>
        <p:spPr>
          <a:xfrm>
            <a:off x="0" y="1594022"/>
            <a:ext cx="12192000" cy="4274966"/>
          </a:xfrm>
        </p:spPr>
        <p:txBody>
          <a:bodyPr lIns="720000" rIns="720000" numCol="1" spcCol="36000">
            <a:normAutofit/>
          </a:bodyPr>
          <a:lstStyle>
            <a:lvl1pPr marL="0" indent="0">
              <a:lnSpc>
                <a:spcPct val="150000"/>
              </a:lnSpc>
              <a:spcBef>
                <a:spcPts val="0"/>
              </a:spcBef>
              <a:buFontTx/>
              <a:buNone/>
              <a:defRPr sz="1600" baseline="0">
                <a:solidFill>
                  <a:schemeClr val="bg1"/>
                </a:solidFill>
                <a:latin typeface="Merriweather Sans" panose="02000503060000020004" pitchFamily="2" charset="77"/>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endParaRPr lang="en-US" dirty="0"/>
          </a:p>
        </p:txBody>
      </p:sp>
    </p:spTree>
    <p:extLst>
      <p:ext uri="{BB962C8B-B14F-4D97-AF65-F5344CB8AC3E}">
        <p14:creationId xmlns:p14="http://schemas.microsoft.com/office/powerpoint/2010/main" val="21354574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5_Highlights">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FC0E5861-BB4E-3045-9035-4C575A7CEE1B}"/>
              </a:ext>
            </a:extLst>
          </p:cNvPr>
          <p:cNvSpPr txBox="1">
            <a:spLocks/>
          </p:cNvSpPr>
          <p:nvPr userDrawn="1"/>
        </p:nvSpPr>
        <p:spPr>
          <a:xfrm>
            <a:off x="0" y="0"/>
            <a:ext cx="12192000" cy="1160585"/>
          </a:xfrm>
          <a:prstGeom prst="rect">
            <a:avLst/>
          </a:prstGeom>
          <a:solidFill>
            <a:srgbClr val="331969"/>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endParaRPr lang="en-GB" sz="3600" b="1" dirty="0">
              <a:solidFill>
                <a:schemeClr val="bg1"/>
              </a:solidFill>
              <a:latin typeface="MerriweatherSans-Book" panose="02000503060000020004" pitchFamily="2" charset="77"/>
            </a:endParaRPr>
          </a:p>
        </p:txBody>
      </p:sp>
      <p:sp>
        <p:nvSpPr>
          <p:cNvPr id="2" name="Title 1">
            <a:extLst>
              <a:ext uri="{FF2B5EF4-FFF2-40B4-BE49-F238E27FC236}">
                <a16:creationId xmlns:a16="http://schemas.microsoft.com/office/drawing/2014/main" id="{1C523BF2-011A-324A-8F68-658B42DB81BC}"/>
              </a:ext>
            </a:extLst>
          </p:cNvPr>
          <p:cNvSpPr>
            <a:spLocks noGrp="1"/>
          </p:cNvSpPr>
          <p:nvPr>
            <p:ph type="title" hasCustomPrompt="1"/>
          </p:nvPr>
        </p:nvSpPr>
        <p:spPr>
          <a:xfrm>
            <a:off x="0" y="0"/>
            <a:ext cx="12192000" cy="1325563"/>
          </a:xfrm>
        </p:spPr>
        <p:txBody>
          <a:bodyPr>
            <a:normAutofit/>
          </a:bodyPr>
          <a:lstStyle>
            <a:lvl1pPr algn="ctr">
              <a:lnSpc>
                <a:spcPct val="110000"/>
              </a:lnSpc>
              <a:defRPr sz="3600" baseline="0">
                <a:solidFill>
                  <a:schemeClr val="bg1"/>
                </a:solidFill>
                <a:latin typeface="Merriweather Sans" panose="02000503060000020004" pitchFamily="2" charset="77"/>
              </a:defRPr>
            </a:lvl1pPr>
          </a:lstStyle>
          <a:p>
            <a:r>
              <a:rPr lang="en-US" dirty="0"/>
              <a:t>Highlights</a:t>
            </a:r>
          </a:p>
        </p:txBody>
      </p:sp>
      <p:sp>
        <p:nvSpPr>
          <p:cNvPr id="7" name="Text Placeholder 3">
            <a:extLst>
              <a:ext uri="{FF2B5EF4-FFF2-40B4-BE49-F238E27FC236}">
                <a16:creationId xmlns:a16="http://schemas.microsoft.com/office/drawing/2014/main" id="{5BB611BF-C83D-5247-8A2B-24BB94FE04CC}"/>
              </a:ext>
            </a:extLst>
          </p:cNvPr>
          <p:cNvSpPr>
            <a:spLocks noGrp="1"/>
          </p:cNvSpPr>
          <p:nvPr>
            <p:ph type="body" sz="half" idx="2"/>
          </p:nvPr>
        </p:nvSpPr>
        <p:spPr>
          <a:xfrm>
            <a:off x="0" y="1594022"/>
            <a:ext cx="12192000" cy="4274966"/>
          </a:xfrm>
        </p:spPr>
        <p:txBody>
          <a:bodyPr lIns="720000" rIns="720000" numCol="1" spcCol="36000">
            <a:normAutofit/>
          </a:bodyPr>
          <a:lstStyle>
            <a:lvl1pPr marL="342900" indent="-342900">
              <a:lnSpc>
                <a:spcPct val="150000"/>
              </a:lnSpc>
              <a:spcBef>
                <a:spcPts val="0"/>
              </a:spcBef>
              <a:buFont typeface="Arial" panose="020B0604020202020204" pitchFamily="34" charset="0"/>
              <a:buChar char="•"/>
              <a:defRPr sz="1600" baseline="0">
                <a:solidFill>
                  <a:schemeClr val="bg1"/>
                </a:solidFill>
                <a:latin typeface="Merriweather Sans" panose="02000503060000020004" pitchFamily="2" charset="77"/>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endParaRPr lang="en-US" dirty="0"/>
          </a:p>
        </p:txBody>
      </p:sp>
    </p:spTree>
    <p:extLst>
      <p:ext uri="{BB962C8B-B14F-4D97-AF65-F5344CB8AC3E}">
        <p14:creationId xmlns:p14="http://schemas.microsoft.com/office/powerpoint/2010/main" val="1439393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6_Summary">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FC0E5861-BB4E-3045-9035-4C575A7CEE1B}"/>
              </a:ext>
            </a:extLst>
          </p:cNvPr>
          <p:cNvSpPr txBox="1">
            <a:spLocks/>
          </p:cNvSpPr>
          <p:nvPr userDrawn="1"/>
        </p:nvSpPr>
        <p:spPr>
          <a:xfrm>
            <a:off x="0" y="0"/>
            <a:ext cx="12192000" cy="1160585"/>
          </a:xfrm>
          <a:prstGeom prst="rect">
            <a:avLst/>
          </a:prstGeom>
          <a:solidFill>
            <a:srgbClr val="331969"/>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endParaRPr lang="en-GB" sz="3600" b="1" dirty="0">
              <a:solidFill>
                <a:schemeClr val="bg1"/>
              </a:solidFill>
              <a:latin typeface="MerriweatherSans-Book" panose="02000503060000020004" pitchFamily="2" charset="77"/>
            </a:endParaRPr>
          </a:p>
        </p:txBody>
      </p:sp>
      <p:sp>
        <p:nvSpPr>
          <p:cNvPr id="2" name="Title 1">
            <a:extLst>
              <a:ext uri="{FF2B5EF4-FFF2-40B4-BE49-F238E27FC236}">
                <a16:creationId xmlns:a16="http://schemas.microsoft.com/office/drawing/2014/main" id="{1C523BF2-011A-324A-8F68-658B42DB81BC}"/>
              </a:ext>
            </a:extLst>
          </p:cNvPr>
          <p:cNvSpPr>
            <a:spLocks noGrp="1"/>
          </p:cNvSpPr>
          <p:nvPr>
            <p:ph type="title" hasCustomPrompt="1"/>
          </p:nvPr>
        </p:nvSpPr>
        <p:spPr>
          <a:xfrm>
            <a:off x="0" y="0"/>
            <a:ext cx="12192000" cy="1325563"/>
          </a:xfrm>
        </p:spPr>
        <p:txBody>
          <a:bodyPr>
            <a:normAutofit/>
          </a:bodyPr>
          <a:lstStyle>
            <a:lvl1pPr algn="ctr">
              <a:lnSpc>
                <a:spcPct val="110000"/>
              </a:lnSpc>
              <a:defRPr sz="3600" baseline="0">
                <a:solidFill>
                  <a:schemeClr val="bg1"/>
                </a:solidFill>
                <a:latin typeface="Merriweather Sans" panose="02000503060000020004" pitchFamily="2" charset="77"/>
              </a:defRPr>
            </a:lvl1pPr>
          </a:lstStyle>
          <a:p>
            <a:r>
              <a:rPr lang="en-US" dirty="0"/>
              <a:t>Summary</a:t>
            </a:r>
          </a:p>
        </p:txBody>
      </p:sp>
      <p:sp>
        <p:nvSpPr>
          <p:cNvPr id="7" name="Text Placeholder 3">
            <a:extLst>
              <a:ext uri="{FF2B5EF4-FFF2-40B4-BE49-F238E27FC236}">
                <a16:creationId xmlns:a16="http://schemas.microsoft.com/office/drawing/2014/main" id="{5BB611BF-C83D-5247-8A2B-24BB94FE04CC}"/>
              </a:ext>
            </a:extLst>
          </p:cNvPr>
          <p:cNvSpPr>
            <a:spLocks noGrp="1"/>
          </p:cNvSpPr>
          <p:nvPr>
            <p:ph type="body" sz="half" idx="2"/>
          </p:nvPr>
        </p:nvSpPr>
        <p:spPr>
          <a:xfrm>
            <a:off x="0" y="1594022"/>
            <a:ext cx="12192000" cy="4274966"/>
          </a:xfrm>
        </p:spPr>
        <p:txBody>
          <a:bodyPr lIns="720000" rIns="720000" numCol="1" spcCol="36000">
            <a:normAutofit/>
          </a:bodyPr>
          <a:lstStyle>
            <a:lvl1pPr marL="0" indent="0">
              <a:lnSpc>
                <a:spcPct val="150000"/>
              </a:lnSpc>
              <a:spcBef>
                <a:spcPts val="0"/>
              </a:spcBef>
              <a:buFontTx/>
              <a:buNone/>
              <a:defRPr sz="1600" baseline="0">
                <a:solidFill>
                  <a:schemeClr val="bg1"/>
                </a:solidFill>
                <a:latin typeface="Merriweather Sans" panose="02000503060000020004" pitchFamily="2" charset="77"/>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endParaRPr lang="en-US" dirty="0"/>
          </a:p>
        </p:txBody>
      </p:sp>
    </p:spTree>
    <p:extLst>
      <p:ext uri="{BB962C8B-B14F-4D97-AF65-F5344CB8AC3E}">
        <p14:creationId xmlns:p14="http://schemas.microsoft.com/office/powerpoint/2010/main" val="7746333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7_Study_subjects">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FC0E5861-BB4E-3045-9035-4C575A7CEE1B}"/>
              </a:ext>
            </a:extLst>
          </p:cNvPr>
          <p:cNvSpPr txBox="1">
            <a:spLocks/>
          </p:cNvSpPr>
          <p:nvPr userDrawn="1"/>
        </p:nvSpPr>
        <p:spPr>
          <a:xfrm>
            <a:off x="0" y="0"/>
            <a:ext cx="12192000" cy="1160585"/>
          </a:xfrm>
          <a:prstGeom prst="rect">
            <a:avLst/>
          </a:prstGeom>
          <a:solidFill>
            <a:srgbClr val="331969"/>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endParaRPr lang="en-GB" sz="3600" b="1" dirty="0">
              <a:solidFill>
                <a:schemeClr val="bg1"/>
              </a:solidFill>
              <a:latin typeface="MerriweatherSans-Book" panose="02000503060000020004" pitchFamily="2" charset="77"/>
            </a:endParaRPr>
          </a:p>
        </p:txBody>
      </p:sp>
      <p:sp>
        <p:nvSpPr>
          <p:cNvPr id="2" name="Title 1">
            <a:extLst>
              <a:ext uri="{FF2B5EF4-FFF2-40B4-BE49-F238E27FC236}">
                <a16:creationId xmlns:a16="http://schemas.microsoft.com/office/drawing/2014/main" id="{1C523BF2-011A-324A-8F68-658B42DB81BC}"/>
              </a:ext>
            </a:extLst>
          </p:cNvPr>
          <p:cNvSpPr>
            <a:spLocks noGrp="1"/>
          </p:cNvSpPr>
          <p:nvPr>
            <p:ph type="title" hasCustomPrompt="1"/>
          </p:nvPr>
        </p:nvSpPr>
        <p:spPr>
          <a:xfrm>
            <a:off x="0" y="0"/>
            <a:ext cx="12192000" cy="1325563"/>
          </a:xfrm>
        </p:spPr>
        <p:txBody>
          <a:bodyPr>
            <a:normAutofit/>
          </a:bodyPr>
          <a:lstStyle>
            <a:lvl1pPr algn="ctr">
              <a:lnSpc>
                <a:spcPct val="110000"/>
              </a:lnSpc>
              <a:defRPr sz="3600" baseline="0">
                <a:solidFill>
                  <a:schemeClr val="bg1"/>
                </a:solidFill>
                <a:latin typeface="Merriweather Sans" panose="02000503060000020004" pitchFamily="2" charset="77"/>
              </a:defRPr>
            </a:lvl1pPr>
          </a:lstStyle>
          <a:p>
            <a:r>
              <a:rPr lang="en-US" dirty="0"/>
              <a:t>Study subjects</a:t>
            </a:r>
          </a:p>
        </p:txBody>
      </p:sp>
      <p:sp>
        <p:nvSpPr>
          <p:cNvPr id="7" name="Text Placeholder 3">
            <a:extLst>
              <a:ext uri="{FF2B5EF4-FFF2-40B4-BE49-F238E27FC236}">
                <a16:creationId xmlns:a16="http://schemas.microsoft.com/office/drawing/2014/main" id="{5BB611BF-C83D-5247-8A2B-24BB94FE04CC}"/>
              </a:ext>
            </a:extLst>
          </p:cNvPr>
          <p:cNvSpPr>
            <a:spLocks noGrp="1"/>
          </p:cNvSpPr>
          <p:nvPr>
            <p:ph type="body" sz="half" idx="2"/>
          </p:nvPr>
        </p:nvSpPr>
        <p:spPr>
          <a:xfrm>
            <a:off x="0" y="1594022"/>
            <a:ext cx="12192000" cy="4274966"/>
          </a:xfrm>
        </p:spPr>
        <p:txBody>
          <a:bodyPr lIns="720000" rIns="720000" numCol="1" spcCol="36000">
            <a:normAutofit/>
          </a:bodyPr>
          <a:lstStyle>
            <a:lvl1pPr marL="0" indent="0">
              <a:lnSpc>
                <a:spcPct val="150000"/>
              </a:lnSpc>
              <a:spcBef>
                <a:spcPts val="0"/>
              </a:spcBef>
              <a:buFontTx/>
              <a:buNone/>
              <a:defRPr sz="1600" baseline="0">
                <a:solidFill>
                  <a:schemeClr val="bg1"/>
                </a:solidFill>
                <a:latin typeface="Merriweather Sans" panose="02000503060000020004" pitchFamily="2" charset="77"/>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endParaRPr lang="en-US" dirty="0"/>
          </a:p>
        </p:txBody>
      </p:sp>
    </p:spTree>
    <p:extLst>
      <p:ext uri="{BB962C8B-B14F-4D97-AF65-F5344CB8AC3E}">
        <p14:creationId xmlns:p14="http://schemas.microsoft.com/office/powerpoint/2010/main" val="32161500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8_Study_analysis">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FC0E5861-BB4E-3045-9035-4C575A7CEE1B}"/>
              </a:ext>
            </a:extLst>
          </p:cNvPr>
          <p:cNvSpPr txBox="1">
            <a:spLocks/>
          </p:cNvSpPr>
          <p:nvPr userDrawn="1"/>
        </p:nvSpPr>
        <p:spPr>
          <a:xfrm>
            <a:off x="0" y="0"/>
            <a:ext cx="12192000" cy="1160585"/>
          </a:xfrm>
          <a:prstGeom prst="rect">
            <a:avLst/>
          </a:prstGeom>
          <a:solidFill>
            <a:srgbClr val="331969"/>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endParaRPr lang="en-GB" sz="3600" b="1" dirty="0">
              <a:solidFill>
                <a:schemeClr val="bg1"/>
              </a:solidFill>
              <a:latin typeface="MerriweatherSans-Book" panose="02000503060000020004" pitchFamily="2" charset="77"/>
            </a:endParaRPr>
          </a:p>
        </p:txBody>
      </p:sp>
      <p:sp>
        <p:nvSpPr>
          <p:cNvPr id="2" name="Title 1">
            <a:extLst>
              <a:ext uri="{FF2B5EF4-FFF2-40B4-BE49-F238E27FC236}">
                <a16:creationId xmlns:a16="http://schemas.microsoft.com/office/drawing/2014/main" id="{1C523BF2-011A-324A-8F68-658B42DB81BC}"/>
              </a:ext>
            </a:extLst>
          </p:cNvPr>
          <p:cNvSpPr>
            <a:spLocks noGrp="1"/>
          </p:cNvSpPr>
          <p:nvPr>
            <p:ph type="title" hasCustomPrompt="1"/>
          </p:nvPr>
        </p:nvSpPr>
        <p:spPr>
          <a:xfrm>
            <a:off x="0" y="0"/>
            <a:ext cx="12192000" cy="1325563"/>
          </a:xfrm>
        </p:spPr>
        <p:txBody>
          <a:bodyPr>
            <a:normAutofit/>
          </a:bodyPr>
          <a:lstStyle>
            <a:lvl1pPr algn="ctr">
              <a:lnSpc>
                <a:spcPct val="110000"/>
              </a:lnSpc>
              <a:defRPr sz="3600" baseline="0">
                <a:solidFill>
                  <a:schemeClr val="bg1"/>
                </a:solidFill>
                <a:latin typeface="Merriweather Sans" panose="02000503060000020004" pitchFamily="2" charset="77"/>
              </a:defRPr>
            </a:lvl1pPr>
          </a:lstStyle>
          <a:p>
            <a:r>
              <a:rPr lang="en-US" dirty="0"/>
              <a:t>Study analysis</a:t>
            </a:r>
          </a:p>
        </p:txBody>
      </p:sp>
      <p:sp>
        <p:nvSpPr>
          <p:cNvPr id="7" name="Text Placeholder 3">
            <a:extLst>
              <a:ext uri="{FF2B5EF4-FFF2-40B4-BE49-F238E27FC236}">
                <a16:creationId xmlns:a16="http://schemas.microsoft.com/office/drawing/2014/main" id="{5BB611BF-C83D-5247-8A2B-24BB94FE04CC}"/>
              </a:ext>
            </a:extLst>
          </p:cNvPr>
          <p:cNvSpPr>
            <a:spLocks noGrp="1"/>
          </p:cNvSpPr>
          <p:nvPr>
            <p:ph type="body" sz="half" idx="2"/>
          </p:nvPr>
        </p:nvSpPr>
        <p:spPr>
          <a:xfrm>
            <a:off x="0" y="1594022"/>
            <a:ext cx="12192000" cy="4274966"/>
          </a:xfrm>
        </p:spPr>
        <p:txBody>
          <a:bodyPr lIns="720000" rIns="720000" numCol="1" spcCol="36000">
            <a:normAutofit/>
          </a:bodyPr>
          <a:lstStyle>
            <a:lvl1pPr marL="0" indent="0">
              <a:lnSpc>
                <a:spcPct val="150000"/>
              </a:lnSpc>
              <a:spcBef>
                <a:spcPts val="0"/>
              </a:spcBef>
              <a:buFontTx/>
              <a:buNone/>
              <a:defRPr sz="1200" baseline="0">
                <a:solidFill>
                  <a:schemeClr val="bg1"/>
                </a:solidFill>
                <a:latin typeface="Merriweather Sans" panose="02000503060000020004" pitchFamily="2" charset="77"/>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endParaRPr lang="en-US" dirty="0"/>
          </a:p>
        </p:txBody>
      </p:sp>
    </p:spTree>
    <p:extLst>
      <p:ext uri="{BB962C8B-B14F-4D97-AF65-F5344CB8AC3E}">
        <p14:creationId xmlns:p14="http://schemas.microsoft.com/office/powerpoint/2010/main" val="13883903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9_Study_limitations">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FC0E5861-BB4E-3045-9035-4C575A7CEE1B}"/>
              </a:ext>
            </a:extLst>
          </p:cNvPr>
          <p:cNvSpPr txBox="1">
            <a:spLocks/>
          </p:cNvSpPr>
          <p:nvPr userDrawn="1"/>
        </p:nvSpPr>
        <p:spPr>
          <a:xfrm>
            <a:off x="0" y="0"/>
            <a:ext cx="12192000" cy="1160585"/>
          </a:xfrm>
          <a:prstGeom prst="rect">
            <a:avLst/>
          </a:prstGeom>
          <a:solidFill>
            <a:srgbClr val="331969"/>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endParaRPr lang="en-GB" sz="3600" b="1" dirty="0">
              <a:solidFill>
                <a:schemeClr val="bg1"/>
              </a:solidFill>
              <a:latin typeface="MerriweatherSans-Book" panose="02000503060000020004" pitchFamily="2" charset="77"/>
            </a:endParaRPr>
          </a:p>
        </p:txBody>
      </p:sp>
      <p:sp>
        <p:nvSpPr>
          <p:cNvPr id="2" name="Title 1">
            <a:extLst>
              <a:ext uri="{FF2B5EF4-FFF2-40B4-BE49-F238E27FC236}">
                <a16:creationId xmlns:a16="http://schemas.microsoft.com/office/drawing/2014/main" id="{1C523BF2-011A-324A-8F68-658B42DB81BC}"/>
              </a:ext>
            </a:extLst>
          </p:cNvPr>
          <p:cNvSpPr>
            <a:spLocks noGrp="1"/>
          </p:cNvSpPr>
          <p:nvPr>
            <p:ph type="title" hasCustomPrompt="1"/>
          </p:nvPr>
        </p:nvSpPr>
        <p:spPr>
          <a:xfrm>
            <a:off x="0" y="0"/>
            <a:ext cx="12192000" cy="1325563"/>
          </a:xfrm>
        </p:spPr>
        <p:txBody>
          <a:bodyPr>
            <a:normAutofit/>
          </a:bodyPr>
          <a:lstStyle>
            <a:lvl1pPr algn="ctr">
              <a:lnSpc>
                <a:spcPct val="110000"/>
              </a:lnSpc>
              <a:defRPr sz="3600" baseline="0">
                <a:solidFill>
                  <a:schemeClr val="bg1"/>
                </a:solidFill>
                <a:latin typeface="Merriweather Sans" panose="02000503060000020004" pitchFamily="2" charset="77"/>
              </a:defRPr>
            </a:lvl1pPr>
          </a:lstStyle>
          <a:p>
            <a:r>
              <a:rPr lang="en-US" dirty="0"/>
              <a:t>Study limitations</a:t>
            </a:r>
          </a:p>
        </p:txBody>
      </p:sp>
      <p:sp>
        <p:nvSpPr>
          <p:cNvPr id="7" name="Text Placeholder 3">
            <a:extLst>
              <a:ext uri="{FF2B5EF4-FFF2-40B4-BE49-F238E27FC236}">
                <a16:creationId xmlns:a16="http://schemas.microsoft.com/office/drawing/2014/main" id="{5BB611BF-C83D-5247-8A2B-24BB94FE04CC}"/>
              </a:ext>
            </a:extLst>
          </p:cNvPr>
          <p:cNvSpPr>
            <a:spLocks noGrp="1"/>
          </p:cNvSpPr>
          <p:nvPr>
            <p:ph type="body" sz="half" idx="2"/>
          </p:nvPr>
        </p:nvSpPr>
        <p:spPr>
          <a:xfrm>
            <a:off x="0" y="1594022"/>
            <a:ext cx="12192000" cy="4274966"/>
          </a:xfrm>
        </p:spPr>
        <p:txBody>
          <a:bodyPr lIns="720000" rIns="720000" numCol="1" spcCol="36000">
            <a:normAutofit/>
          </a:bodyPr>
          <a:lstStyle>
            <a:lvl1pPr marL="0" indent="0">
              <a:lnSpc>
                <a:spcPct val="150000"/>
              </a:lnSpc>
              <a:spcBef>
                <a:spcPts val="0"/>
              </a:spcBef>
              <a:buFontTx/>
              <a:buNone/>
              <a:defRPr sz="1600" baseline="0">
                <a:solidFill>
                  <a:schemeClr val="bg1"/>
                </a:solidFill>
                <a:latin typeface="Merriweather Sans" panose="02000503060000020004" pitchFamily="2" charset="77"/>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endParaRPr lang="en-US" dirty="0"/>
          </a:p>
        </p:txBody>
      </p:sp>
    </p:spTree>
    <p:extLst>
      <p:ext uri="{BB962C8B-B14F-4D97-AF65-F5344CB8AC3E}">
        <p14:creationId xmlns:p14="http://schemas.microsoft.com/office/powerpoint/2010/main" val="32712377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0_Future_work">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FC0E5861-BB4E-3045-9035-4C575A7CEE1B}"/>
              </a:ext>
            </a:extLst>
          </p:cNvPr>
          <p:cNvSpPr txBox="1">
            <a:spLocks/>
          </p:cNvSpPr>
          <p:nvPr userDrawn="1"/>
        </p:nvSpPr>
        <p:spPr>
          <a:xfrm>
            <a:off x="0" y="0"/>
            <a:ext cx="12192000" cy="1160585"/>
          </a:xfrm>
          <a:prstGeom prst="rect">
            <a:avLst/>
          </a:prstGeom>
          <a:solidFill>
            <a:srgbClr val="331969"/>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endParaRPr lang="en-GB" sz="3600" b="1" dirty="0">
              <a:solidFill>
                <a:schemeClr val="bg1"/>
              </a:solidFill>
              <a:latin typeface="MerriweatherSans-Book" panose="02000503060000020004" pitchFamily="2" charset="77"/>
            </a:endParaRPr>
          </a:p>
        </p:txBody>
      </p:sp>
      <p:sp>
        <p:nvSpPr>
          <p:cNvPr id="2" name="Title 1">
            <a:extLst>
              <a:ext uri="{FF2B5EF4-FFF2-40B4-BE49-F238E27FC236}">
                <a16:creationId xmlns:a16="http://schemas.microsoft.com/office/drawing/2014/main" id="{1C523BF2-011A-324A-8F68-658B42DB81BC}"/>
              </a:ext>
            </a:extLst>
          </p:cNvPr>
          <p:cNvSpPr>
            <a:spLocks noGrp="1"/>
          </p:cNvSpPr>
          <p:nvPr>
            <p:ph type="title" hasCustomPrompt="1"/>
          </p:nvPr>
        </p:nvSpPr>
        <p:spPr>
          <a:xfrm>
            <a:off x="0" y="0"/>
            <a:ext cx="12192000" cy="1325563"/>
          </a:xfrm>
        </p:spPr>
        <p:txBody>
          <a:bodyPr>
            <a:normAutofit/>
          </a:bodyPr>
          <a:lstStyle>
            <a:lvl1pPr algn="ctr">
              <a:lnSpc>
                <a:spcPct val="110000"/>
              </a:lnSpc>
              <a:defRPr sz="3600" baseline="0">
                <a:solidFill>
                  <a:schemeClr val="bg1"/>
                </a:solidFill>
                <a:latin typeface="Merriweather Sans" panose="02000503060000020004" pitchFamily="2" charset="77"/>
              </a:defRPr>
            </a:lvl1pPr>
          </a:lstStyle>
          <a:p>
            <a:r>
              <a:rPr lang="en-US" dirty="0"/>
              <a:t>Future work</a:t>
            </a:r>
          </a:p>
        </p:txBody>
      </p:sp>
      <p:sp>
        <p:nvSpPr>
          <p:cNvPr id="7" name="Text Placeholder 3">
            <a:extLst>
              <a:ext uri="{FF2B5EF4-FFF2-40B4-BE49-F238E27FC236}">
                <a16:creationId xmlns:a16="http://schemas.microsoft.com/office/drawing/2014/main" id="{5BB611BF-C83D-5247-8A2B-24BB94FE04CC}"/>
              </a:ext>
            </a:extLst>
          </p:cNvPr>
          <p:cNvSpPr>
            <a:spLocks noGrp="1"/>
          </p:cNvSpPr>
          <p:nvPr>
            <p:ph type="body" sz="half" idx="2"/>
          </p:nvPr>
        </p:nvSpPr>
        <p:spPr>
          <a:xfrm>
            <a:off x="0" y="1594022"/>
            <a:ext cx="12192000" cy="4274966"/>
          </a:xfrm>
        </p:spPr>
        <p:txBody>
          <a:bodyPr lIns="720000" rIns="720000" numCol="1" spcCol="36000">
            <a:normAutofit/>
          </a:bodyPr>
          <a:lstStyle>
            <a:lvl1pPr marL="0" indent="0">
              <a:lnSpc>
                <a:spcPct val="150000"/>
              </a:lnSpc>
              <a:spcBef>
                <a:spcPts val="0"/>
              </a:spcBef>
              <a:buFontTx/>
              <a:buNone/>
              <a:defRPr sz="1600" baseline="0">
                <a:solidFill>
                  <a:schemeClr val="bg1"/>
                </a:solidFill>
                <a:latin typeface="Merriweather Sans" panose="02000503060000020004" pitchFamily="2" charset="77"/>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endParaRPr lang="en-US" dirty="0"/>
          </a:p>
        </p:txBody>
      </p:sp>
    </p:spTree>
    <p:extLst>
      <p:ext uri="{BB962C8B-B14F-4D97-AF65-F5344CB8AC3E}">
        <p14:creationId xmlns:p14="http://schemas.microsoft.com/office/powerpoint/2010/main" val="19837602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1_Figures">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FC0E5861-BB4E-3045-9035-4C575A7CEE1B}"/>
              </a:ext>
            </a:extLst>
          </p:cNvPr>
          <p:cNvSpPr txBox="1">
            <a:spLocks/>
          </p:cNvSpPr>
          <p:nvPr userDrawn="1"/>
        </p:nvSpPr>
        <p:spPr>
          <a:xfrm>
            <a:off x="0" y="0"/>
            <a:ext cx="12192000" cy="1160585"/>
          </a:xfrm>
          <a:prstGeom prst="rect">
            <a:avLst/>
          </a:prstGeom>
          <a:solidFill>
            <a:srgbClr val="331969"/>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endParaRPr lang="en-GB" sz="3600" b="1" dirty="0">
              <a:solidFill>
                <a:schemeClr val="bg1"/>
              </a:solidFill>
              <a:latin typeface="MerriweatherSans-Book" panose="02000503060000020004" pitchFamily="2" charset="77"/>
            </a:endParaRPr>
          </a:p>
        </p:txBody>
      </p:sp>
      <p:sp>
        <p:nvSpPr>
          <p:cNvPr id="2" name="Title 1">
            <a:extLst>
              <a:ext uri="{FF2B5EF4-FFF2-40B4-BE49-F238E27FC236}">
                <a16:creationId xmlns:a16="http://schemas.microsoft.com/office/drawing/2014/main" id="{1C523BF2-011A-324A-8F68-658B42DB81BC}"/>
              </a:ext>
            </a:extLst>
          </p:cNvPr>
          <p:cNvSpPr>
            <a:spLocks noGrp="1"/>
          </p:cNvSpPr>
          <p:nvPr>
            <p:ph type="title" hasCustomPrompt="1"/>
          </p:nvPr>
        </p:nvSpPr>
        <p:spPr>
          <a:xfrm>
            <a:off x="0" y="0"/>
            <a:ext cx="12192000" cy="1160585"/>
          </a:xfrm>
        </p:spPr>
        <p:txBody>
          <a:bodyPr>
            <a:normAutofit/>
          </a:bodyPr>
          <a:lstStyle>
            <a:lvl1pPr algn="ctr">
              <a:lnSpc>
                <a:spcPct val="110000"/>
              </a:lnSpc>
              <a:defRPr sz="3600" baseline="0">
                <a:solidFill>
                  <a:schemeClr val="bg1"/>
                </a:solidFill>
                <a:latin typeface="Merriweather Sans" panose="02000503060000020004" pitchFamily="2" charset="77"/>
              </a:defRPr>
            </a:lvl1pPr>
          </a:lstStyle>
          <a:p>
            <a:r>
              <a:rPr lang="en-US" dirty="0"/>
              <a:t>Figure</a:t>
            </a:r>
          </a:p>
        </p:txBody>
      </p:sp>
      <p:sp>
        <p:nvSpPr>
          <p:cNvPr id="7" name="Text Placeholder 3">
            <a:extLst>
              <a:ext uri="{FF2B5EF4-FFF2-40B4-BE49-F238E27FC236}">
                <a16:creationId xmlns:a16="http://schemas.microsoft.com/office/drawing/2014/main" id="{5BB611BF-C83D-5247-8A2B-24BB94FE04CC}"/>
              </a:ext>
            </a:extLst>
          </p:cNvPr>
          <p:cNvSpPr>
            <a:spLocks noGrp="1"/>
          </p:cNvSpPr>
          <p:nvPr>
            <p:ph type="body" sz="half" idx="2"/>
          </p:nvPr>
        </p:nvSpPr>
        <p:spPr>
          <a:xfrm>
            <a:off x="9107556" y="1160583"/>
            <a:ext cx="2869096" cy="4544477"/>
          </a:xfrm>
        </p:spPr>
        <p:txBody>
          <a:bodyPr lIns="180000" tIns="180000" rIns="180000" numCol="1" spcCol="36000">
            <a:normAutofit/>
          </a:bodyPr>
          <a:lstStyle>
            <a:lvl1pPr marL="0" indent="0">
              <a:lnSpc>
                <a:spcPct val="150000"/>
              </a:lnSpc>
              <a:spcBef>
                <a:spcPts val="0"/>
              </a:spcBef>
              <a:buFontTx/>
              <a:buNone/>
              <a:defRPr sz="1000" baseline="0">
                <a:solidFill>
                  <a:schemeClr val="bg1"/>
                </a:solidFill>
                <a:latin typeface="Merriweather Sans" panose="02000503060000020004" pitchFamily="2" charset="77"/>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endParaRPr lang="en-US" dirty="0"/>
          </a:p>
        </p:txBody>
      </p:sp>
      <p:sp>
        <p:nvSpPr>
          <p:cNvPr id="4" name="Picture Placeholder 3">
            <a:extLst>
              <a:ext uri="{FF2B5EF4-FFF2-40B4-BE49-F238E27FC236}">
                <a16:creationId xmlns:a16="http://schemas.microsoft.com/office/drawing/2014/main" id="{A05D0BE0-A420-D342-8B5A-1B0DD7D31542}"/>
              </a:ext>
            </a:extLst>
          </p:cNvPr>
          <p:cNvSpPr>
            <a:spLocks noGrp="1" noChangeAspect="1"/>
          </p:cNvSpPr>
          <p:nvPr>
            <p:ph type="pic" sz="quarter" idx="10"/>
          </p:nvPr>
        </p:nvSpPr>
        <p:spPr>
          <a:xfrm>
            <a:off x="1" y="1160584"/>
            <a:ext cx="8975034" cy="5697415"/>
          </a:xfrm>
        </p:spPr>
        <p:txBody>
          <a:bodyPr>
            <a:normAutofit/>
          </a:bodyPr>
          <a:lstStyle>
            <a:lvl1pPr marL="0" indent="0">
              <a:buFontTx/>
              <a:buNone/>
              <a:defRPr sz="900" baseline="0">
                <a:latin typeface="Merriweather Sans" panose="02000503060000020004" pitchFamily="2" charset="77"/>
              </a:defRPr>
            </a:lvl1pPr>
          </a:lstStyle>
          <a:p>
            <a:endParaRPr lang="en-US" dirty="0"/>
          </a:p>
        </p:txBody>
      </p:sp>
    </p:spTree>
    <p:extLst>
      <p:ext uri="{BB962C8B-B14F-4D97-AF65-F5344CB8AC3E}">
        <p14:creationId xmlns:p14="http://schemas.microsoft.com/office/powerpoint/2010/main" val="26240714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4D308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8522C0A-DAAD-9941-AE9A-C52E4B563A2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811B318-E9FF-104B-B392-F0FD25D183B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pic>
        <p:nvPicPr>
          <p:cNvPr id="6" name="Picture 5">
            <a:extLst>
              <a:ext uri="{FF2B5EF4-FFF2-40B4-BE49-F238E27FC236}">
                <a16:creationId xmlns:a16="http://schemas.microsoft.com/office/drawing/2014/main" id="{4413DEF4-1C6D-591F-56E5-DE7093152F45}"/>
              </a:ext>
            </a:extLst>
          </p:cNvPr>
          <p:cNvPicPr>
            <a:picLocks noChangeAspect="1"/>
          </p:cNvPicPr>
          <p:nvPr userDrawn="1"/>
        </p:nvPicPr>
        <p:blipFill>
          <a:blip r:embed="rId13"/>
          <a:stretch>
            <a:fillRect/>
          </a:stretch>
        </p:blipFill>
        <p:spPr>
          <a:xfrm>
            <a:off x="11391900" y="6057900"/>
            <a:ext cx="800100" cy="800100"/>
          </a:xfrm>
          <a:prstGeom prst="rect">
            <a:avLst/>
          </a:prstGeom>
        </p:spPr>
      </p:pic>
    </p:spTree>
    <p:extLst>
      <p:ext uri="{BB962C8B-B14F-4D97-AF65-F5344CB8AC3E}">
        <p14:creationId xmlns:p14="http://schemas.microsoft.com/office/powerpoint/2010/main" val="230309918"/>
      </p:ext>
    </p:extLst>
  </p:cSld>
  <p:clrMap bg1="lt1" tx1="dk1" bg2="lt2" tx2="dk2" accent1="accent1" accent2="accent2" accent3="accent3" accent4="accent4" accent5="accent5" accent6="accent6" hlink="hlink" folHlink="folHlink"/>
  <p:sldLayoutIdLst>
    <p:sldLayoutId id="2147483649" r:id="rId1"/>
    <p:sldLayoutId id="2147483654" r:id="rId2"/>
    <p:sldLayoutId id="2147483660" r:id="rId3"/>
    <p:sldLayoutId id="2147483661" r:id="rId4"/>
    <p:sldLayoutId id="2147483662" r:id="rId5"/>
    <p:sldLayoutId id="2147483663" r:id="rId6"/>
    <p:sldLayoutId id="2147483664" r:id="rId7"/>
    <p:sldLayoutId id="2147483665" r:id="rId8"/>
    <p:sldLayoutId id="2147483666" r:id="rId9"/>
    <p:sldLayoutId id="2147483667" r:id="rId10"/>
    <p:sldLayoutId id="2147483668"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11.xml"/></Relationships>
</file>

<file path=ppt/slides/_rels/slide19.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2846245D-9913-1246-A32F-96EDC12D199C}"/>
              </a:ext>
            </a:extLst>
          </p:cNvPr>
          <p:cNvSpPr>
            <a:spLocks noGrp="1"/>
          </p:cNvSpPr>
          <p:nvPr>
            <p:ph type="ctrTitle"/>
          </p:nvPr>
        </p:nvSpPr>
        <p:spPr>
          <a:xfrm>
            <a:off x="728470" y="83128"/>
            <a:ext cx="10735058" cy="1485900"/>
          </a:xfrm>
        </p:spPr>
        <p:txBody>
          <a:bodyPr/>
          <a:lstStyle/>
          <a:p>
            <a:r>
              <a:rPr dirty="0"/>
              <a:t>Improving Multimodal Learning via Imbalanced Learning</a:t>
            </a:r>
          </a:p>
        </p:txBody>
      </p:sp>
      <p:sp>
        <p:nvSpPr>
          <p:cNvPr id="8" name="Subtitle 7">
            <a:extLst>
              <a:ext uri="{FF2B5EF4-FFF2-40B4-BE49-F238E27FC236}">
                <a16:creationId xmlns:a16="http://schemas.microsoft.com/office/drawing/2014/main" id="{D0FECA8E-2BE1-9A44-84D5-6DFB1593754B}"/>
              </a:ext>
            </a:extLst>
          </p:cNvPr>
          <p:cNvSpPr>
            <a:spLocks noGrp="1"/>
          </p:cNvSpPr>
          <p:nvPr>
            <p:ph type="subTitle" idx="1"/>
          </p:nvPr>
        </p:nvSpPr>
        <p:spPr>
          <a:xfrm>
            <a:off x="728470" y="1766456"/>
            <a:ext cx="10735058" cy="1880754"/>
          </a:xfrm>
        </p:spPr>
        <p:txBody>
          <a:bodyPr/>
          <a:lstStyle/>
          <a:p>
            <a:r>
              <a:rPr dirty="0"/>
              <a:t>ARL (Asymmetric Representation Learning) modulates multimodal training so that each modality’s contribution is inversely proportional to its variance, reducing bias‑variance error and achieving state‑of‑the‑art performance on diverse multimodal benchmarks.</a:t>
            </a:r>
          </a:p>
        </p:txBody>
      </p:sp>
      <p:sp>
        <p:nvSpPr>
          <p:cNvPr id="9" name="Text Placeholder 8">
            <a:extLst>
              <a:ext uri="{FF2B5EF4-FFF2-40B4-BE49-F238E27FC236}">
                <a16:creationId xmlns:a16="http://schemas.microsoft.com/office/drawing/2014/main" id="{8D96F264-76DA-A940-88C1-AA83C5085B20}"/>
              </a:ext>
            </a:extLst>
          </p:cNvPr>
          <p:cNvSpPr>
            <a:spLocks noGrp="1"/>
          </p:cNvSpPr>
          <p:nvPr>
            <p:ph type="body" sz="quarter" idx="10"/>
          </p:nvPr>
        </p:nvSpPr>
        <p:spPr>
          <a:xfrm>
            <a:off x="728663" y="4384964"/>
            <a:ext cx="10734866" cy="2114261"/>
          </a:xfrm>
        </p:spPr>
        <p:txBody>
          <a:bodyPr/>
          <a:lstStyle/>
          <a:p>
            <a:r>
              <a:rPr dirty="0" err="1"/>
              <a:t>Shicai</a:t>
            </a:r>
            <a:r>
              <a:rPr dirty="0"/>
              <a:t> Wei1, 2 </a:t>
            </a:r>
            <a:r>
              <a:rPr dirty="0" err="1"/>
              <a:t>Chunbo</a:t>
            </a:r>
            <a:r>
              <a:rPr dirty="0"/>
              <a:t> Luo1* Yang Luo1 1University of Electronic Science and Technology of China 2 National and Local Joint Engineering Research Center for Cloud Operating System shicaiwei@std.uestc.edu.cn,  {</a:t>
            </a:r>
            <a:r>
              <a:rPr dirty="0" err="1"/>
              <a:t>c.luo</a:t>
            </a:r>
            <a:endParaRPr dirty="0"/>
          </a:p>
          <a:p>
            <a:r>
              <a:rPr dirty="0"/>
              <a:t>2026</a:t>
            </a:r>
          </a:p>
        </p:txBody>
      </p:sp>
    </p:spTree>
    <p:extLst>
      <p:ext uri="{BB962C8B-B14F-4D97-AF65-F5344CB8AC3E}">
        <p14:creationId xmlns:p14="http://schemas.microsoft.com/office/powerpoint/2010/main" val="6283491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Key concepts</a:t>
            </a:r>
          </a:p>
        </p:txBody>
      </p:sp>
      <p:sp>
        <p:nvSpPr>
          <p:cNvPr id="3" name="Text Placeholder 2"/>
          <p:cNvSpPr>
            <a:spLocks noGrp="1"/>
          </p:cNvSpPr>
          <p:nvPr>
            <p:ph type="body" sz="half" idx="2"/>
          </p:nvPr>
        </p:nvSpPr>
        <p:spPr/>
        <p:txBody>
          <a:bodyPr/>
          <a:lstStyle/>
          <a:p>
            <a:r>
              <a:t>Multimodal Learning</a:t>
            </a:r>
          </a:p>
          <a:p>
            <a:r>
              <a:t>multimodal model</a:t>
            </a:r>
          </a:p>
          <a:p>
            <a:r>
              <a:t>action recognition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Abstract</a:t>
            </a:r>
          </a:p>
        </p:txBody>
      </p:sp>
      <p:sp>
        <p:nvSpPr>
          <p:cNvPr id="3" name="Text Placeholder 2"/>
          <p:cNvSpPr>
            <a:spLocks noGrp="1"/>
          </p:cNvSpPr>
          <p:nvPr>
            <p:ph type="body" sz="half" idx="2"/>
          </p:nvPr>
        </p:nvSpPr>
        <p:spPr>
          <a:xfrm>
            <a:off x="0" y="1236518"/>
            <a:ext cx="12192000" cy="5049982"/>
          </a:xfrm>
        </p:spPr>
        <p:txBody>
          <a:bodyPr>
            <a:normAutofit fontScale="92500"/>
          </a:bodyPr>
          <a:lstStyle/>
          <a:p>
            <a:r>
              <a:rPr dirty="0"/>
              <a:t>Multimodal learning often encounters the under-optimized problem and may perform worse than unimodal learning. Existing approaches attribute this issue to imbalanced learning across modalities and tend to address it through gradient balancing. However, this paper argues that balanced learning is not the optimal setting for multimodal learning. With bias-variance analysis, we prove that imbalanced dependency on each modality obeying the inverse ratio of their variances contributes to optimal performance. To this end, we propose the Asymmetric Representation Learning(ARL) strategy to assist multimodal learning via imbalanced optimization. ARL introduces auxiliary </a:t>
            </a:r>
            <a:r>
              <a:rPr dirty="0" err="1"/>
              <a:t>regularizers</a:t>
            </a:r>
            <a:r>
              <a:rPr dirty="0"/>
              <a:t> for each modality encoder to calculate their prediction variance. ARL then calculates coefficients via the unimodal variance to re-weight the optimization of each modality, forcing the modality dependence ratio to be inversely proportional to the modality variance ratio. Moreover, to minimize the generalization error, ARL further introduces the prediction bias of each modality and jointly optimizes them with multimodal loss. Notably, all auxiliary </a:t>
            </a:r>
            <a:r>
              <a:rPr dirty="0" err="1"/>
              <a:t>regularizers</a:t>
            </a:r>
            <a:r>
              <a:rPr dirty="0"/>
              <a:t> share parameters with the multimodal model and rely only on the modality representation. Thus the proposed ARL strategy introduces no extra parameters and is independent of the structures and fusion methods of the multimodal model. Finally, extensive experiments on various datasets validate the effectiveness and versatility of ARL. Code is available at https://github.com/shicaiwei123/ICCV2025-ARL</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Builds on previous research</a:t>
            </a:r>
          </a:p>
        </p:txBody>
      </p:sp>
      <p:sp>
        <p:nvSpPr>
          <p:cNvPr id="3" name="Text Placeholder 2"/>
          <p:cNvSpPr>
            <a:spLocks noGrp="1"/>
          </p:cNvSpPr>
          <p:nvPr>
            <p:ph type="body" sz="half" idx="2"/>
          </p:nvPr>
        </p:nvSpPr>
        <p:spPr/>
        <p:txBody>
          <a:bodyPr/>
          <a:lstStyle/>
          <a:p>
            <a:r>
              <a:t>The training and validation split of the dataset follows [27]. Here, we extract frames from event-localized video segments and capture corresponding audio clips, creating a labeled multimodal classification dataset. .                                                                            Page 6</a:t>
            </a:r>
          </a:p>
          <a:p>
            <a:endParaRPr/>
          </a:p>
          <a:p>
            <a:r>
              <a:t>Implementation details. To ensure a fair comparison, we utilize ResNet18 as the encoder backbone for all datasets, as is common in previous methods [21, 10].                                                                            Page 6</a:t>
            </a:r>
          </a:p>
          <a:p>
            <a:endParaRPr/>
          </a:p>
          <a:p>
            <a:r>
              <a:t>The entire audio data is transformed into a spectrogram of size 257×1,004. The training configurations mirror those of previous methods [21, 10], including a mini-batch size of 64, an SGD optimizer with momentum 0.9, a learning rate of 1e-3, and a weight decay of 1e-4. $\gamma$ is set as 4 for all datasets. $T$ is set 8,4,4,4,4 for CREMA-D, AVE, KS, MOSI, and UCF101 datasets, respectively.                                                                            Page 6</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Differs from previous work</a:t>
            </a:r>
          </a:p>
        </p:txBody>
      </p:sp>
      <p:sp>
        <p:nvSpPr>
          <p:cNvPr id="3" name="Text Placeholder 2"/>
          <p:cNvSpPr>
            <a:spLocks noGrp="1"/>
          </p:cNvSpPr>
          <p:nvPr>
            <p:ph type="body" sz="half" idx="2"/>
          </p:nvPr>
        </p:nvSpPr>
        <p:spPr/>
        <p:txBody>
          <a:bodyPr/>
          <a:lstStyle/>
          <a:p>
            <a:r>
              <a:t>Existing balance-based methods [21, 18, 10, 34] try to modulate the learning of different modalities to balance their optimization. However, we found that imbalanced learning obeying the inverse of the modality variance ratio can contribute to better performance.                                                                            Page 6</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Snapshot</a:t>
            </a:r>
          </a:p>
        </p:txBody>
      </p:sp>
      <p:sp>
        <p:nvSpPr>
          <p:cNvPr id="3" name="Text Placeholder 2"/>
          <p:cNvSpPr>
            <a:spLocks noGrp="1"/>
          </p:cNvSpPr>
          <p:nvPr>
            <p:ph type="body" sz="half" idx="2"/>
          </p:nvPr>
        </p:nvSpPr>
        <p:spPr/>
        <p:txBody>
          <a:bodyPr/>
          <a:lstStyle/>
          <a:p>
            <a:r>
              <a:t>ARL boosts multimodal AI performance by allocating more learning weight to the most reliable modality, improving overall understanding without extra components.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Key findings</a:t>
            </a:r>
          </a:p>
        </p:txBody>
      </p:sp>
      <p:sp>
        <p:nvSpPr>
          <p:cNvPr id="3" name="Text Placeholder 2"/>
          <p:cNvSpPr>
            <a:spLocks noGrp="1"/>
          </p:cNvSpPr>
          <p:nvPr>
            <p:ph type="body" sz="half" idx="2"/>
          </p:nvPr>
        </p:nvSpPr>
        <p:spPr/>
        <p:txBody>
          <a:bodyPr/>
          <a:lstStyle/>
          <a:p>
            <a:r>
              <a:t>Enhancing the strongest modality (e.g., audio) raises the performance of the entire multimodal system, contrary to the prior belief that modalities should be balanced.</a:t>
            </a:r>
          </a:p>
          <a:p>
            <a:r>
              <a:t>The approach yields consistent score improvements across a variety of tasks, ranging from modest to substantial gains.</a:t>
            </a:r>
          </a:p>
          <a:p>
            <a:r>
              <a:t>ARL is effective for configurations with two, three, or more modalities and works with different model architectures.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Objectives</a:t>
            </a:r>
          </a:p>
        </p:txBody>
      </p:sp>
      <p:sp>
        <p:nvSpPr>
          <p:cNvPr id="3" name="Text Placeholder 2"/>
          <p:cNvSpPr>
            <a:spLocks noGrp="1"/>
          </p:cNvSpPr>
          <p:nvPr>
            <p:ph type="body" sz="half" idx="2"/>
          </p:nvPr>
        </p:nvSpPr>
        <p:spPr/>
        <p:txBody>
          <a:bodyPr/>
          <a:lstStyle/>
          <a:p>
            <a:r>
              <a:t>The goal was to create a technique (ARL) that improves multimodal learning by preferentially strengthening the most reliable input streams.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Study Subjects</a:t>
            </a:r>
          </a:p>
        </p:txBody>
      </p:sp>
      <p:sp>
        <p:nvSpPr>
          <p:cNvPr id="3" name="Text Placeholder 2"/>
          <p:cNvSpPr>
            <a:spLocks noGrp="1"/>
          </p:cNvSpPr>
          <p:nvPr>
            <p:ph type="body" sz="half" idx="2"/>
          </p:nvPr>
        </p:nvSpPr>
        <p:spPr/>
        <p:txBody>
          <a:bodyPr/>
          <a:lstStyle/>
          <a:p>
            <a:r>
              <a:t>The study involved computer models learning from multiple modalities such as sound, images, and text.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Methods</a:t>
            </a:r>
          </a:p>
        </p:txBody>
      </p:sp>
      <p:sp>
        <p:nvSpPr>
          <p:cNvPr id="3" name="Text Placeholder 2"/>
          <p:cNvSpPr>
            <a:spLocks noGrp="1"/>
          </p:cNvSpPr>
          <p:nvPr>
            <p:ph type="body" sz="half" idx="2"/>
          </p:nvPr>
        </p:nvSpPr>
        <p:spPr/>
        <p:txBody>
          <a:bodyPr/>
          <a:lstStyle/>
          <a:p>
            <a:r>
              <a:t>ARL modifies the learning step sizes based on each modality’s reliability, giving larger updates to steadier (less noisy) inputs while requiring no new hardware or memory overhead.</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Results</a:t>
            </a:r>
          </a:p>
        </p:txBody>
      </p:sp>
      <p:sp>
        <p:nvSpPr>
          <p:cNvPr id="3" name="Text Placeholder 2"/>
          <p:cNvSpPr>
            <a:spLocks noGrp="1"/>
          </p:cNvSpPr>
          <p:nvPr>
            <p:ph type="body" sz="half" idx="2"/>
          </p:nvPr>
        </p:nvSpPr>
        <p:spPr/>
        <p:txBody>
          <a:bodyPr/>
          <a:lstStyle/>
          <a:p>
            <a:r>
              <a:t>Across multiple benchmark tests involving audio‑visual games and speech tasks, models using ARL achieved higher accuracy scores than baseline methods, with improvements varying from a few percent to large margins.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Conclusions</a:t>
            </a:r>
          </a:p>
        </p:txBody>
      </p:sp>
      <p:sp>
        <p:nvSpPr>
          <p:cNvPr id="3" name="Text Placeholder 2"/>
          <p:cNvSpPr>
            <a:spLocks noGrp="1"/>
          </p:cNvSpPr>
          <p:nvPr>
            <p:ph type="body" sz="half" idx="2"/>
          </p:nvPr>
        </p:nvSpPr>
        <p:spPr/>
        <p:txBody>
          <a:bodyPr/>
          <a:lstStyle/>
          <a:p>
            <a:r>
              <a:t>Prioritizing learning capacity for the most reliable modality leads to overall better multimodal performance, and this can be achieved without additional model components or memory.</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Limitations</a:t>
            </a:r>
          </a:p>
        </p:txBody>
      </p:sp>
      <p:sp>
        <p:nvSpPr>
          <p:cNvPr id="3" name="Text Placeholder 2"/>
          <p:cNvSpPr>
            <a:spLocks noGrp="1"/>
          </p:cNvSpPr>
          <p:nvPr>
            <p:ph type="body" sz="half" idx="2"/>
          </p:nvPr>
        </p:nvSpPr>
        <p:spPr/>
        <p:txBody>
          <a:bodyPr/>
          <a:lstStyle/>
          <a:p>
            <a:r>
              <a:t>The provided text does not specify any experimental or methodological limitations.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Future Work</a:t>
            </a:r>
          </a:p>
        </p:txBody>
      </p:sp>
      <p:sp>
        <p:nvSpPr>
          <p:cNvPr id="3" name="Text Placeholder 2"/>
          <p:cNvSpPr>
            <a:spLocks noGrp="1"/>
          </p:cNvSpPr>
          <p:nvPr>
            <p:ph type="body" sz="half" idx="2"/>
          </p:nvPr>
        </p:nvSpPr>
        <p:spPr/>
        <p:txBody>
          <a:bodyPr/>
          <a:lstStyle/>
          <a:p>
            <a:r>
              <a:t>No explicit future research directions are mentioned in the excerpt.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Practical Applications</a:t>
            </a:r>
          </a:p>
        </p:txBody>
      </p:sp>
      <p:sp>
        <p:nvSpPr>
          <p:cNvPr id="3" name="Text Placeholder 2"/>
          <p:cNvSpPr>
            <a:spLocks noGrp="1"/>
          </p:cNvSpPr>
          <p:nvPr>
            <p:ph type="body" sz="half" idx="2"/>
          </p:nvPr>
        </p:nvSpPr>
        <p:spPr/>
        <p:txBody>
          <a:bodyPr/>
          <a:lstStyle/>
          <a:p>
            <a:r>
              <a:t>ARL can be applied to any multimodal AI system—such as games that combine sound, video, and speech—to improve performance without extra hardware, making it suitable for real‑world deployments where computational resources are limited.</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Study subjects</a:t>
            </a:r>
          </a:p>
        </p:txBody>
      </p:sp>
      <p:sp>
        <p:nvSpPr>
          <p:cNvPr id="3" name="Text Placeholder 2"/>
          <p:cNvSpPr>
            <a:spLocks noGrp="1"/>
          </p:cNvSpPr>
          <p:nvPr>
            <p:ph type="body" sz="half" idx="2"/>
          </p:nvPr>
        </p:nvSpPr>
        <p:spPr/>
        <p:txBody>
          <a:bodyPr/>
          <a:lstStyle/>
          <a:p>
            <a:r>
              <a:rPr b="1"/>
              <a:t>6698 samples
</a:t>
            </a:r>
            <a:r>
              <a:t>They are further divided into 6698 samples as the training set and 744 samples as the testing set</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Figure 1</a:t>
            </a:r>
          </a:p>
        </p:txBody>
      </p:sp>
      <p:sp>
        <p:nvSpPr>
          <p:cNvPr id="3" name="Text Placeholder 2"/>
          <p:cNvSpPr>
            <a:spLocks noGrp="1"/>
          </p:cNvSpPr>
          <p:nvPr>
            <p:ph type="body" sz="half" idx="2"/>
          </p:nvPr>
        </p:nvSpPr>
        <p:spPr/>
        <p:txBody>
          <a:bodyPr/>
          <a:lstStyle/>
          <a:p>
            <a:r>
              <a:t>The visualization on the audio-visual dataset CREMA-D. (a) presents the performance of the unimodal branch in the vanilla multimodal model. (b) presents the performance of the multimodal model with audio branch modulation. ‘ $a*5$ ’ represents increasing the gradient for the audio branch by fivefolds to accelerate its optimization. (c) presents the gap between the modality dependence and modality variance. $\frac{d_{a}}{d_{v}}$ denotes the model optimization dependence ratio on the audio and visual modalities (see Equation 4 ). $\frac{q_{a}}{q_{v}}$ denotes the inverse of the variance ratio of audio and visual modalities (see Equation 17 )</a:t>
            </a:r>
          </a:p>
        </p:txBody>
      </p:sp>
      <p:pic>
        <p:nvPicPr>
          <p:cNvPr id="4" name="Picture Placeholder 3" descr="image.jpg"/>
          <p:cNvPicPr>
            <a:picLocks noGrp="1" noChangeAspect="1"/>
          </p:cNvPicPr>
          <p:nvPr>
            <p:ph type="pic" sz="quarter" idx="10"/>
          </p:nvPr>
        </p:nvPicPr>
        <p:blipFill>
          <a:blip r:embed="rId2"/>
          <a:srcRect/>
          <a:stretch>
            <a:fillRect/>
          </a:stretch>
        </p:blipFill>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Figure 2</a:t>
            </a:r>
          </a:p>
        </p:txBody>
      </p:sp>
      <p:sp>
        <p:nvSpPr>
          <p:cNvPr id="3" name="Text Placeholder 2"/>
          <p:cNvSpPr>
            <a:spLocks noGrp="1"/>
          </p:cNvSpPr>
          <p:nvPr>
            <p:ph type="body" sz="half" idx="2"/>
          </p:nvPr>
        </p:nvSpPr>
        <p:spPr/>
        <p:txBody>
          <a:bodyPr/>
          <a:lstStyle/>
          <a:p>
            <a:r>
              <a:t>The pipeline of the multimodal model with ARL strategy. It consists of three components: the modality analysis to measure the modality variance; the asymmetric learning to align the optimization dependency on each modality with the inverse of their variance ratio; and the unimodal bias regularization to reduce multimodal bias. $g_{s}$ is the gradient passed back from the fusion module</a:t>
            </a:r>
          </a:p>
        </p:txBody>
      </p:sp>
      <p:pic>
        <p:nvPicPr>
          <p:cNvPr id="4" name="Picture Placeholder 3" descr="image.jpg"/>
          <p:cNvPicPr>
            <a:picLocks noGrp="1" noChangeAspect="1"/>
          </p:cNvPicPr>
          <p:nvPr>
            <p:ph type="pic" sz="quarter" idx="10"/>
          </p:nvPr>
        </p:nvPicPr>
        <p:blipFill>
          <a:blip r:embed="rId2"/>
          <a:srcRect/>
          <a:stretch>
            <a:fillRect/>
          </a:stretch>
        </p:blipFill>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Figure 3</a:t>
            </a:r>
          </a:p>
        </p:txBody>
      </p:sp>
      <p:sp>
        <p:nvSpPr>
          <p:cNvPr id="3" name="Text Placeholder 2"/>
          <p:cNvSpPr>
            <a:spLocks noGrp="1"/>
          </p:cNvSpPr>
          <p:nvPr>
            <p:ph type="body" sz="half" idx="2"/>
          </p:nvPr>
        </p:nvSpPr>
        <p:spPr/>
        <p:txBody>
          <a:bodyPr/>
          <a:lstStyle/>
          <a:p>
            <a:r>
              <a:t>Algorithm 1 Multimodal learning with ARL strategy</a:t>
            </a:r>
          </a:p>
        </p:txBody>
      </p:sp>
      <p:pic>
        <p:nvPicPr>
          <p:cNvPr id="4" name="Picture Placeholder 3" descr="image.jpg"/>
          <p:cNvPicPr>
            <a:picLocks noGrp="1" noChangeAspect="1"/>
          </p:cNvPicPr>
          <p:nvPr>
            <p:ph type="pic" sz="quarter" idx="10"/>
          </p:nvPr>
        </p:nvPicPr>
        <p:blipFill>
          <a:blip r:embed="rId2"/>
          <a:srcRect/>
          <a:stretch>
            <a:fillRect/>
          </a:stretch>
        </p:blipFill>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5867</TotalTime>
  <Words>1093</Words>
  <Application>Microsoft Office PowerPoint</Application>
  <PresentationFormat>Widescreen</PresentationFormat>
  <Paragraphs>48</Paragraphs>
  <Slides>19</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19</vt:i4>
      </vt:variant>
    </vt:vector>
  </HeadingPairs>
  <TitlesOfParts>
    <vt:vector size="25" baseType="lpstr">
      <vt:lpstr>Arial</vt:lpstr>
      <vt:lpstr>Calibri</vt:lpstr>
      <vt:lpstr>Calibri Light</vt:lpstr>
      <vt:lpstr>Merriweather Sans</vt:lpstr>
      <vt:lpstr>MerriweatherSans-Book</vt:lpstr>
      <vt:lpstr>Office Theme</vt:lpstr>
      <vt:lpstr>Improving Multimodal Learning via Imbalanced Learning</vt:lpstr>
      <vt:lpstr>Key concepts</vt:lpstr>
      <vt:lpstr>Abstract</vt:lpstr>
      <vt:lpstr>Builds on previous research</vt:lpstr>
      <vt:lpstr>Differs from previous work</vt:lpstr>
      <vt:lpstr>Snapshot</vt:lpstr>
      <vt:lpstr>Key findings</vt:lpstr>
      <vt:lpstr>Objectives</vt:lpstr>
      <vt:lpstr>Study Subjects</vt:lpstr>
      <vt:lpstr>Methods</vt:lpstr>
      <vt:lpstr>Results</vt:lpstr>
      <vt:lpstr>Conclusions</vt:lpstr>
      <vt:lpstr>Limitations</vt:lpstr>
      <vt:lpstr>Future Work</vt:lpstr>
      <vt:lpstr>Practical Applications</vt:lpstr>
      <vt:lpstr>Study subjects</vt:lpstr>
      <vt:lpstr>Figure 1</vt:lpstr>
      <vt:lpstr>Figure 2</vt:lpstr>
      <vt:lpstr>Figure 3</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Read less. Learn more.</dc:title>
  <dc:creator>Gareth Healey</dc:creator>
  <cp:lastModifiedBy>Medhat Attia</cp:lastModifiedBy>
  <cp:revision>530</cp:revision>
  <cp:lastPrinted>2019-01-07T16:50:53Z</cp:lastPrinted>
  <dcterms:created xsi:type="dcterms:W3CDTF">2018-11-20T20:43:37Z</dcterms:created>
  <dcterms:modified xsi:type="dcterms:W3CDTF">2026-06-19T11:11:22Z</dcterms:modified>
</cp:coreProperties>
</file>