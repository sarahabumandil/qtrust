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1969"/>
    <a:srgbClr val="4D308C"/>
    <a:srgbClr val="341C52"/>
    <a:srgbClr val="4F3C67"/>
    <a:srgbClr val="442A65"/>
    <a:srgbClr val="853C95"/>
    <a:srgbClr val="D9DFE7"/>
    <a:srgbClr val="415DA6"/>
    <a:srgbClr val="FFD9C8"/>
    <a:srgbClr val="6F6F6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751" autoAdjust="0"/>
    <p:restoredTop sz="90000" autoAdjust="0"/>
  </p:normalViewPr>
  <p:slideViewPr>
    <p:cSldViewPr snapToGrid="0" snapToObjects="1">
      <p:cViewPr varScale="1">
        <p:scale>
          <a:sx n="74" d="100"/>
          <a:sy n="74" d="100"/>
        </p:scale>
        <p:origin x="1142" y="72"/>
      </p:cViewPr>
      <p:guideLst>
        <p:guide orient="horz" pos="3158"/>
        <p:guide pos="384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92DBCE-BE51-4D79-9782-75D1E15A386B}" type="datetimeFigureOut">
              <a:rPr lang="en-GB" smtClean="0"/>
              <a:t>19/06/2026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29638D-49A3-4E01-B6C2-EE0CDAE514BE}" type="slidenum">
              <a:rPr lang="en-GB" smtClean="0"/>
              <a:t>‹#›</a:t>
            </a:fld>
            <a:endParaRPr lang="en-GB"/>
          </a:p>
        </p:txBody>
      </p:sp>
    </p:spTree>
    <p:extLst>
      <p:ext uri="{BB962C8B-B14F-4D97-AF65-F5344CB8AC3E}">
        <p14:creationId xmlns:p14="http://schemas.microsoft.com/office/powerpoint/2010/main" val="3904381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A2FDC-D27E-F945-9098-B72E06982930}"/>
              </a:ext>
            </a:extLst>
          </p:cNvPr>
          <p:cNvSpPr>
            <a:spLocks noGrp="1"/>
          </p:cNvSpPr>
          <p:nvPr>
            <p:ph type="ctrTitle"/>
          </p:nvPr>
        </p:nvSpPr>
        <p:spPr>
          <a:xfrm>
            <a:off x="728470" y="433669"/>
            <a:ext cx="10735058" cy="2007704"/>
          </a:xfrm>
        </p:spPr>
        <p:txBody>
          <a:bodyPr anchor="b">
            <a:normAutofit/>
          </a:bodyPr>
          <a:lstStyle>
            <a:lvl1pPr algn="ctr">
              <a:lnSpc>
                <a:spcPct val="130000"/>
              </a:lnSpc>
              <a:defRPr sz="3600" b="1" i="0" baseline="0">
                <a:solidFill>
                  <a:schemeClr val="bg1"/>
                </a:solidFill>
                <a:latin typeface="Merriweather Sans" panose="02000503060000020004" pitchFamily="2" charset="77"/>
              </a:defRPr>
            </a:lvl1pPr>
          </a:lstStyle>
          <a:p>
            <a:endParaRPr lang="en-US" dirty="0"/>
          </a:p>
        </p:txBody>
      </p:sp>
      <p:sp>
        <p:nvSpPr>
          <p:cNvPr id="3" name="Subtitle 2">
            <a:extLst>
              <a:ext uri="{FF2B5EF4-FFF2-40B4-BE49-F238E27FC236}">
                <a16:creationId xmlns:a16="http://schemas.microsoft.com/office/drawing/2014/main" id="{5F084780-5AB1-F64E-984A-22E1C12ABAEA}"/>
              </a:ext>
            </a:extLst>
          </p:cNvPr>
          <p:cNvSpPr>
            <a:spLocks noGrp="1"/>
          </p:cNvSpPr>
          <p:nvPr>
            <p:ph type="subTitle" idx="1"/>
          </p:nvPr>
        </p:nvSpPr>
        <p:spPr>
          <a:xfrm>
            <a:off x="728470" y="2713383"/>
            <a:ext cx="10735058" cy="2007704"/>
          </a:xfrm>
        </p:spPr>
        <p:txBody>
          <a:bodyPr>
            <a:normAutofit/>
          </a:bodyPr>
          <a:lstStyle>
            <a:lvl1pPr marL="0" indent="0" algn="l">
              <a:lnSpc>
                <a:spcPct val="120000"/>
              </a:lnSpc>
              <a:spcBef>
                <a:spcPts val="0"/>
              </a:spcBef>
              <a:buNone/>
              <a:defRPr sz="2000" baseline="0">
                <a:solidFill>
                  <a:schemeClr val="bg1"/>
                </a:solidFill>
                <a:latin typeface="Merriweather Sans" panose="02000503060000020004"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dirty="0"/>
          </a:p>
        </p:txBody>
      </p:sp>
      <p:sp>
        <p:nvSpPr>
          <p:cNvPr id="11" name="Text Placeholder 10">
            <a:extLst>
              <a:ext uri="{FF2B5EF4-FFF2-40B4-BE49-F238E27FC236}">
                <a16:creationId xmlns:a16="http://schemas.microsoft.com/office/drawing/2014/main" id="{4FBC4D4A-B790-F24F-BEC0-A8ADDFB2EFD5}"/>
              </a:ext>
            </a:extLst>
          </p:cNvPr>
          <p:cNvSpPr>
            <a:spLocks noGrp="1"/>
          </p:cNvSpPr>
          <p:nvPr>
            <p:ph type="body" sz="quarter" idx="10" hasCustomPrompt="1"/>
          </p:nvPr>
        </p:nvSpPr>
        <p:spPr>
          <a:xfrm>
            <a:off x="728663" y="4969565"/>
            <a:ext cx="4238625" cy="1529660"/>
          </a:xfrm>
        </p:spPr>
        <p:txBody>
          <a:bodyPr>
            <a:normAutofit/>
          </a:bodyPr>
          <a:lstStyle>
            <a:lvl1pPr marL="0" indent="0">
              <a:lnSpc>
                <a:spcPct val="120000"/>
              </a:lnSpc>
              <a:spcBef>
                <a:spcPts val="0"/>
              </a:spcBef>
              <a:buFontTx/>
              <a:buNone/>
              <a:defRPr sz="1800" baseline="0">
                <a:solidFill>
                  <a:schemeClr val="bg1"/>
                </a:solidFill>
                <a:latin typeface="Merriweather Sans" panose="02000503060000020004" pitchFamily="2" charset="77"/>
              </a:defRPr>
            </a:lvl1pPr>
          </a:lstStyle>
          <a:p>
            <a:pPr lvl="0"/>
            <a:r>
              <a:rPr lang="en-US" dirty="0"/>
              <a:t>Author</a:t>
            </a:r>
          </a:p>
          <a:p>
            <a:pPr lvl="0"/>
            <a:r>
              <a:rPr lang="en-US" dirty="0"/>
              <a:t>Year</a:t>
            </a:r>
          </a:p>
          <a:p>
            <a:pPr lvl="0"/>
            <a:r>
              <a:rPr lang="en-US" dirty="0"/>
              <a:t>DOI</a:t>
            </a:r>
          </a:p>
        </p:txBody>
      </p:sp>
    </p:spTree>
    <p:extLst>
      <p:ext uri="{BB962C8B-B14F-4D97-AF65-F5344CB8AC3E}">
        <p14:creationId xmlns:p14="http://schemas.microsoft.com/office/powerpoint/2010/main" val="7196855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Key_concept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C0E5861-BB4E-3045-9035-4C575A7CEE1B}"/>
              </a:ext>
            </a:extLst>
          </p:cNvPr>
          <p:cNvSpPr txBox="1">
            <a:spLocks/>
          </p:cNvSpPr>
          <p:nvPr userDrawn="1"/>
        </p:nvSpPr>
        <p:spPr>
          <a:xfrm>
            <a:off x="0" y="0"/>
            <a:ext cx="12192000" cy="1160585"/>
          </a:xfrm>
          <a:prstGeom prst="rect">
            <a:avLst/>
          </a:prstGeom>
          <a:solidFill>
            <a:srgbClr val="33196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GB" sz="3600" b="1" dirty="0">
              <a:solidFill>
                <a:schemeClr val="bg1"/>
              </a:solidFill>
              <a:latin typeface="MerriweatherSans-Book" panose="02000503060000020004" pitchFamily="2" charset="77"/>
            </a:endParaRPr>
          </a:p>
        </p:txBody>
      </p:sp>
      <p:sp>
        <p:nvSpPr>
          <p:cNvPr id="2" name="Title 1">
            <a:extLst>
              <a:ext uri="{FF2B5EF4-FFF2-40B4-BE49-F238E27FC236}">
                <a16:creationId xmlns:a16="http://schemas.microsoft.com/office/drawing/2014/main" id="{1C523BF2-011A-324A-8F68-658B42DB81BC}"/>
              </a:ext>
            </a:extLst>
          </p:cNvPr>
          <p:cNvSpPr>
            <a:spLocks noGrp="1"/>
          </p:cNvSpPr>
          <p:nvPr>
            <p:ph type="title" hasCustomPrompt="1"/>
          </p:nvPr>
        </p:nvSpPr>
        <p:spPr>
          <a:xfrm>
            <a:off x="0" y="0"/>
            <a:ext cx="12192000" cy="1325563"/>
          </a:xfrm>
        </p:spPr>
        <p:txBody>
          <a:bodyPr>
            <a:normAutofit/>
          </a:bodyPr>
          <a:lstStyle>
            <a:lvl1pPr algn="ctr">
              <a:lnSpc>
                <a:spcPct val="110000"/>
              </a:lnSpc>
              <a:defRPr sz="3600" baseline="0">
                <a:solidFill>
                  <a:schemeClr val="bg1"/>
                </a:solidFill>
                <a:latin typeface="Merriweather Sans" panose="02000503060000020004" pitchFamily="2" charset="77"/>
              </a:defRPr>
            </a:lvl1pPr>
          </a:lstStyle>
          <a:p>
            <a:r>
              <a:rPr lang="en-US" dirty="0"/>
              <a:t>Key concepts</a:t>
            </a:r>
          </a:p>
        </p:txBody>
      </p:sp>
      <p:sp>
        <p:nvSpPr>
          <p:cNvPr id="7" name="Text Placeholder 3">
            <a:extLst>
              <a:ext uri="{FF2B5EF4-FFF2-40B4-BE49-F238E27FC236}">
                <a16:creationId xmlns:a16="http://schemas.microsoft.com/office/drawing/2014/main" id="{5BB611BF-C83D-5247-8A2B-24BB94FE04CC}"/>
              </a:ext>
            </a:extLst>
          </p:cNvPr>
          <p:cNvSpPr>
            <a:spLocks noGrp="1"/>
          </p:cNvSpPr>
          <p:nvPr>
            <p:ph type="body" sz="half" idx="2"/>
          </p:nvPr>
        </p:nvSpPr>
        <p:spPr>
          <a:xfrm>
            <a:off x="0" y="1594022"/>
            <a:ext cx="12192000" cy="4274966"/>
          </a:xfrm>
        </p:spPr>
        <p:txBody>
          <a:bodyPr lIns="720000" rIns="720000" numCol="2" spcCol="36000">
            <a:normAutofit/>
          </a:bodyPr>
          <a:lstStyle>
            <a:lvl1pPr marL="284400" indent="-284400">
              <a:lnSpc>
                <a:spcPct val="150000"/>
              </a:lnSpc>
              <a:spcBef>
                <a:spcPts val="0"/>
              </a:spcBef>
              <a:buFont typeface="Arial" panose="020B0604020202020204" pitchFamily="34" charset="0"/>
              <a:buChar char="•"/>
              <a:defRPr sz="1600" baseline="0">
                <a:solidFill>
                  <a:schemeClr val="bg1"/>
                </a:solidFill>
                <a:latin typeface="Merriweather Sans" panose="02000503060000020004"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endParaRPr lang="en-US" dirty="0"/>
          </a:p>
        </p:txBody>
      </p:sp>
    </p:spTree>
    <p:extLst>
      <p:ext uri="{BB962C8B-B14F-4D97-AF65-F5344CB8AC3E}">
        <p14:creationId xmlns:p14="http://schemas.microsoft.com/office/powerpoint/2010/main" val="23242251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Abstrac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C0E5861-BB4E-3045-9035-4C575A7CEE1B}"/>
              </a:ext>
            </a:extLst>
          </p:cNvPr>
          <p:cNvSpPr txBox="1">
            <a:spLocks/>
          </p:cNvSpPr>
          <p:nvPr userDrawn="1"/>
        </p:nvSpPr>
        <p:spPr>
          <a:xfrm>
            <a:off x="0" y="0"/>
            <a:ext cx="12192000" cy="1160585"/>
          </a:xfrm>
          <a:prstGeom prst="rect">
            <a:avLst/>
          </a:prstGeom>
          <a:solidFill>
            <a:srgbClr val="33196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GB" sz="3600" b="1" dirty="0">
              <a:solidFill>
                <a:schemeClr val="bg1"/>
              </a:solidFill>
              <a:latin typeface="MerriweatherSans-Book" panose="02000503060000020004" pitchFamily="2" charset="77"/>
            </a:endParaRPr>
          </a:p>
        </p:txBody>
      </p:sp>
      <p:sp>
        <p:nvSpPr>
          <p:cNvPr id="2" name="Title 1">
            <a:extLst>
              <a:ext uri="{FF2B5EF4-FFF2-40B4-BE49-F238E27FC236}">
                <a16:creationId xmlns:a16="http://schemas.microsoft.com/office/drawing/2014/main" id="{1C523BF2-011A-324A-8F68-658B42DB81BC}"/>
              </a:ext>
            </a:extLst>
          </p:cNvPr>
          <p:cNvSpPr>
            <a:spLocks noGrp="1"/>
          </p:cNvSpPr>
          <p:nvPr>
            <p:ph type="title" hasCustomPrompt="1"/>
          </p:nvPr>
        </p:nvSpPr>
        <p:spPr>
          <a:xfrm>
            <a:off x="0" y="0"/>
            <a:ext cx="12192000" cy="1325563"/>
          </a:xfrm>
        </p:spPr>
        <p:txBody>
          <a:bodyPr>
            <a:normAutofit/>
          </a:bodyPr>
          <a:lstStyle>
            <a:lvl1pPr algn="ctr">
              <a:lnSpc>
                <a:spcPct val="110000"/>
              </a:lnSpc>
              <a:defRPr sz="3600" baseline="0">
                <a:solidFill>
                  <a:schemeClr val="bg1"/>
                </a:solidFill>
                <a:latin typeface="Merriweather Sans" panose="02000503060000020004" pitchFamily="2" charset="77"/>
              </a:defRPr>
            </a:lvl1pPr>
          </a:lstStyle>
          <a:p>
            <a:r>
              <a:rPr lang="en-US" dirty="0"/>
              <a:t>Abstract</a:t>
            </a:r>
          </a:p>
        </p:txBody>
      </p:sp>
      <p:sp>
        <p:nvSpPr>
          <p:cNvPr id="7" name="Text Placeholder 3">
            <a:extLst>
              <a:ext uri="{FF2B5EF4-FFF2-40B4-BE49-F238E27FC236}">
                <a16:creationId xmlns:a16="http://schemas.microsoft.com/office/drawing/2014/main" id="{5BB611BF-C83D-5247-8A2B-24BB94FE04CC}"/>
              </a:ext>
            </a:extLst>
          </p:cNvPr>
          <p:cNvSpPr>
            <a:spLocks noGrp="1"/>
          </p:cNvSpPr>
          <p:nvPr>
            <p:ph type="body" sz="half" idx="2"/>
          </p:nvPr>
        </p:nvSpPr>
        <p:spPr>
          <a:xfrm>
            <a:off x="0" y="1594022"/>
            <a:ext cx="12192000" cy="4274966"/>
          </a:xfrm>
        </p:spPr>
        <p:txBody>
          <a:bodyPr lIns="720000" rIns="720000" numCol="1" spcCol="36000">
            <a:normAutofit/>
          </a:bodyPr>
          <a:lstStyle>
            <a:lvl1pPr marL="0" indent="0">
              <a:lnSpc>
                <a:spcPct val="150000"/>
              </a:lnSpc>
              <a:spcBef>
                <a:spcPts val="0"/>
              </a:spcBef>
              <a:buFontTx/>
              <a:buNone/>
              <a:defRPr sz="1600" baseline="0">
                <a:solidFill>
                  <a:schemeClr val="bg1"/>
                </a:solidFill>
                <a:latin typeface="Merriweather Sans" panose="02000503060000020004"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endParaRPr lang="en-US" dirty="0"/>
          </a:p>
        </p:txBody>
      </p:sp>
    </p:spTree>
    <p:extLst>
      <p:ext uri="{BB962C8B-B14F-4D97-AF65-F5344CB8AC3E}">
        <p14:creationId xmlns:p14="http://schemas.microsoft.com/office/powerpoint/2010/main" val="13284727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Comparative_analysi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C0E5861-BB4E-3045-9035-4C575A7CEE1B}"/>
              </a:ext>
            </a:extLst>
          </p:cNvPr>
          <p:cNvSpPr txBox="1">
            <a:spLocks/>
          </p:cNvSpPr>
          <p:nvPr userDrawn="1"/>
        </p:nvSpPr>
        <p:spPr>
          <a:xfrm>
            <a:off x="0" y="0"/>
            <a:ext cx="12192000" cy="1160585"/>
          </a:xfrm>
          <a:prstGeom prst="rect">
            <a:avLst/>
          </a:prstGeom>
          <a:solidFill>
            <a:srgbClr val="33196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GB" sz="3600" b="1" dirty="0">
              <a:solidFill>
                <a:schemeClr val="bg1"/>
              </a:solidFill>
              <a:latin typeface="MerriweatherSans-Book" panose="02000503060000020004" pitchFamily="2" charset="77"/>
            </a:endParaRPr>
          </a:p>
        </p:txBody>
      </p:sp>
      <p:sp>
        <p:nvSpPr>
          <p:cNvPr id="2" name="Title 1">
            <a:extLst>
              <a:ext uri="{FF2B5EF4-FFF2-40B4-BE49-F238E27FC236}">
                <a16:creationId xmlns:a16="http://schemas.microsoft.com/office/drawing/2014/main" id="{1C523BF2-011A-324A-8F68-658B42DB81BC}"/>
              </a:ext>
            </a:extLst>
          </p:cNvPr>
          <p:cNvSpPr>
            <a:spLocks noGrp="1"/>
          </p:cNvSpPr>
          <p:nvPr>
            <p:ph type="title" hasCustomPrompt="1"/>
          </p:nvPr>
        </p:nvSpPr>
        <p:spPr>
          <a:xfrm>
            <a:off x="0" y="0"/>
            <a:ext cx="12192000" cy="1325563"/>
          </a:xfrm>
        </p:spPr>
        <p:txBody>
          <a:bodyPr>
            <a:normAutofit/>
          </a:bodyPr>
          <a:lstStyle>
            <a:lvl1pPr algn="ctr">
              <a:lnSpc>
                <a:spcPct val="110000"/>
              </a:lnSpc>
              <a:defRPr sz="3600" baseline="0">
                <a:solidFill>
                  <a:schemeClr val="bg1"/>
                </a:solidFill>
                <a:latin typeface="Merriweather Sans" panose="02000503060000020004" pitchFamily="2" charset="77"/>
              </a:defRPr>
            </a:lvl1pPr>
          </a:lstStyle>
          <a:p>
            <a:r>
              <a:rPr lang="en-US" dirty="0"/>
              <a:t>Comparative analysis</a:t>
            </a:r>
          </a:p>
        </p:txBody>
      </p:sp>
      <p:sp>
        <p:nvSpPr>
          <p:cNvPr id="7" name="Text Placeholder 3">
            <a:extLst>
              <a:ext uri="{FF2B5EF4-FFF2-40B4-BE49-F238E27FC236}">
                <a16:creationId xmlns:a16="http://schemas.microsoft.com/office/drawing/2014/main" id="{5BB611BF-C83D-5247-8A2B-24BB94FE04CC}"/>
              </a:ext>
            </a:extLst>
          </p:cNvPr>
          <p:cNvSpPr>
            <a:spLocks noGrp="1"/>
          </p:cNvSpPr>
          <p:nvPr>
            <p:ph type="body" sz="half" idx="2"/>
          </p:nvPr>
        </p:nvSpPr>
        <p:spPr>
          <a:xfrm>
            <a:off x="0" y="1594022"/>
            <a:ext cx="12192000" cy="4274966"/>
          </a:xfrm>
        </p:spPr>
        <p:txBody>
          <a:bodyPr lIns="720000" rIns="720000" numCol="1" spcCol="36000">
            <a:normAutofit/>
          </a:bodyPr>
          <a:lstStyle>
            <a:lvl1pPr marL="0" indent="0">
              <a:lnSpc>
                <a:spcPct val="150000"/>
              </a:lnSpc>
              <a:spcBef>
                <a:spcPts val="0"/>
              </a:spcBef>
              <a:buFontTx/>
              <a:buNone/>
              <a:defRPr sz="1600" baseline="0">
                <a:solidFill>
                  <a:schemeClr val="bg1"/>
                </a:solidFill>
                <a:latin typeface="Merriweather Sans" panose="02000503060000020004"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endParaRPr lang="en-US" dirty="0"/>
          </a:p>
        </p:txBody>
      </p:sp>
    </p:spTree>
    <p:extLst>
      <p:ext uri="{BB962C8B-B14F-4D97-AF65-F5344CB8AC3E}">
        <p14:creationId xmlns:p14="http://schemas.microsoft.com/office/powerpoint/2010/main" val="21354574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Highlight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C0E5861-BB4E-3045-9035-4C575A7CEE1B}"/>
              </a:ext>
            </a:extLst>
          </p:cNvPr>
          <p:cNvSpPr txBox="1">
            <a:spLocks/>
          </p:cNvSpPr>
          <p:nvPr userDrawn="1"/>
        </p:nvSpPr>
        <p:spPr>
          <a:xfrm>
            <a:off x="0" y="0"/>
            <a:ext cx="12192000" cy="1160585"/>
          </a:xfrm>
          <a:prstGeom prst="rect">
            <a:avLst/>
          </a:prstGeom>
          <a:solidFill>
            <a:srgbClr val="33196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GB" sz="3600" b="1" dirty="0">
              <a:solidFill>
                <a:schemeClr val="bg1"/>
              </a:solidFill>
              <a:latin typeface="MerriweatherSans-Book" panose="02000503060000020004" pitchFamily="2" charset="77"/>
            </a:endParaRPr>
          </a:p>
        </p:txBody>
      </p:sp>
      <p:sp>
        <p:nvSpPr>
          <p:cNvPr id="2" name="Title 1">
            <a:extLst>
              <a:ext uri="{FF2B5EF4-FFF2-40B4-BE49-F238E27FC236}">
                <a16:creationId xmlns:a16="http://schemas.microsoft.com/office/drawing/2014/main" id="{1C523BF2-011A-324A-8F68-658B42DB81BC}"/>
              </a:ext>
            </a:extLst>
          </p:cNvPr>
          <p:cNvSpPr>
            <a:spLocks noGrp="1"/>
          </p:cNvSpPr>
          <p:nvPr>
            <p:ph type="title" hasCustomPrompt="1"/>
          </p:nvPr>
        </p:nvSpPr>
        <p:spPr>
          <a:xfrm>
            <a:off x="0" y="0"/>
            <a:ext cx="12192000" cy="1325563"/>
          </a:xfrm>
        </p:spPr>
        <p:txBody>
          <a:bodyPr>
            <a:normAutofit/>
          </a:bodyPr>
          <a:lstStyle>
            <a:lvl1pPr algn="ctr">
              <a:lnSpc>
                <a:spcPct val="110000"/>
              </a:lnSpc>
              <a:defRPr sz="3600" baseline="0">
                <a:solidFill>
                  <a:schemeClr val="bg1"/>
                </a:solidFill>
                <a:latin typeface="Merriweather Sans" panose="02000503060000020004" pitchFamily="2" charset="77"/>
              </a:defRPr>
            </a:lvl1pPr>
          </a:lstStyle>
          <a:p>
            <a:r>
              <a:rPr lang="en-US" dirty="0"/>
              <a:t>Highlights</a:t>
            </a:r>
          </a:p>
        </p:txBody>
      </p:sp>
      <p:sp>
        <p:nvSpPr>
          <p:cNvPr id="7" name="Text Placeholder 3">
            <a:extLst>
              <a:ext uri="{FF2B5EF4-FFF2-40B4-BE49-F238E27FC236}">
                <a16:creationId xmlns:a16="http://schemas.microsoft.com/office/drawing/2014/main" id="{5BB611BF-C83D-5247-8A2B-24BB94FE04CC}"/>
              </a:ext>
            </a:extLst>
          </p:cNvPr>
          <p:cNvSpPr>
            <a:spLocks noGrp="1"/>
          </p:cNvSpPr>
          <p:nvPr>
            <p:ph type="body" sz="half" idx="2"/>
          </p:nvPr>
        </p:nvSpPr>
        <p:spPr>
          <a:xfrm>
            <a:off x="0" y="1594022"/>
            <a:ext cx="12192000" cy="4274966"/>
          </a:xfrm>
        </p:spPr>
        <p:txBody>
          <a:bodyPr lIns="720000" rIns="720000" numCol="1" spcCol="36000">
            <a:normAutofit/>
          </a:bodyPr>
          <a:lstStyle>
            <a:lvl1pPr marL="342900" indent="-342900">
              <a:lnSpc>
                <a:spcPct val="150000"/>
              </a:lnSpc>
              <a:spcBef>
                <a:spcPts val="0"/>
              </a:spcBef>
              <a:buFont typeface="Arial" panose="020B0604020202020204" pitchFamily="34" charset="0"/>
              <a:buChar char="•"/>
              <a:defRPr sz="1600" baseline="0">
                <a:solidFill>
                  <a:schemeClr val="bg1"/>
                </a:solidFill>
                <a:latin typeface="Merriweather Sans" panose="02000503060000020004"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endParaRPr lang="en-US" dirty="0"/>
          </a:p>
        </p:txBody>
      </p:sp>
    </p:spTree>
    <p:extLst>
      <p:ext uri="{BB962C8B-B14F-4D97-AF65-F5344CB8AC3E}">
        <p14:creationId xmlns:p14="http://schemas.microsoft.com/office/powerpoint/2010/main" val="1439393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Summar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C0E5861-BB4E-3045-9035-4C575A7CEE1B}"/>
              </a:ext>
            </a:extLst>
          </p:cNvPr>
          <p:cNvSpPr txBox="1">
            <a:spLocks/>
          </p:cNvSpPr>
          <p:nvPr userDrawn="1"/>
        </p:nvSpPr>
        <p:spPr>
          <a:xfrm>
            <a:off x="0" y="0"/>
            <a:ext cx="12192000" cy="1160585"/>
          </a:xfrm>
          <a:prstGeom prst="rect">
            <a:avLst/>
          </a:prstGeom>
          <a:solidFill>
            <a:srgbClr val="33196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GB" sz="3600" b="1" dirty="0">
              <a:solidFill>
                <a:schemeClr val="bg1"/>
              </a:solidFill>
              <a:latin typeface="MerriweatherSans-Book" panose="02000503060000020004" pitchFamily="2" charset="77"/>
            </a:endParaRPr>
          </a:p>
        </p:txBody>
      </p:sp>
      <p:sp>
        <p:nvSpPr>
          <p:cNvPr id="2" name="Title 1">
            <a:extLst>
              <a:ext uri="{FF2B5EF4-FFF2-40B4-BE49-F238E27FC236}">
                <a16:creationId xmlns:a16="http://schemas.microsoft.com/office/drawing/2014/main" id="{1C523BF2-011A-324A-8F68-658B42DB81BC}"/>
              </a:ext>
            </a:extLst>
          </p:cNvPr>
          <p:cNvSpPr>
            <a:spLocks noGrp="1"/>
          </p:cNvSpPr>
          <p:nvPr>
            <p:ph type="title" hasCustomPrompt="1"/>
          </p:nvPr>
        </p:nvSpPr>
        <p:spPr>
          <a:xfrm>
            <a:off x="0" y="0"/>
            <a:ext cx="12192000" cy="1325563"/>
          </a:xfrm>
        </p:spPr>
        <p:txBody>
          <a:bodyPr>
            <a:normAutofit/>
          </a:bodyPr>
          <a:lstStyle>
            <a:lvl1pPr algn="ctr">
              <a:lnSpc>
                <a:spcPct val="110000"/>
              </a:lnSpc>
              <a:defRPr sz="3600" baseline="0">
                <a:solidFill>
                  <a:schemeClr val="bg1"/>
                </a:solidFill>
                <a:latin typeface="Merriweather Sans" panose="02000503060000020004" pitchFamily="2" charset="77"/>
              </a:defRPr>
            </a:lvl1pPr>
          </a:lstStyle>
          <a:p>
            <a:r>
              <a:rPr lang="en-US" dirty="0"/>
              <a:t>Summary</a:t>
            </a:r>
          </a:p>
        </p:txBody>
      </p:sp>
      <p:sp>
        <p:nvSpPr>
          <p:cNvPr id="7" name="Text Placeholder 3">
            <a:extLst>
              <a:ext uri="{FF2B5EF4-FFF2-40B4-BE49-F238E27FC236}">
                <a16:creationId xmlns:a16="http://schemas.microsoft.com/office/drawing/2014/main" id="{5BB611BF-C83D-5247-8A2B-24BB94FE04CC}"/>
              </a:ext>
            </a:extLst>
          </p:cNvPr>
          <p:cNvSpPr>
            <a:spLocks noGrp="1"/>
          </p:cNvSpPr>
          <p:nvPr>
            <p:ph type="body" sz="half" idx="2"/>
          </p:nvPr>
        </p:nvSpPr>
        <p:spPr>
          <a:xfrm>
            <a:off x="0" y="1594022"/>
            <a:ext cx="12192000" cy="4274966"/>
          </a:xfrm>
        </p:spPr>
        <p:txBody>
          <a:bodyPr lIns="720000" rIns="720000" numCol="1" spcCol="36000">
            <a:normAutofit/>
          </a:bodyPr>
          <a:lstStyle>
            <a:lvl1pPr marL="0" indent="0">
              <a:lnSpc>
                <a:spcPct val="150000"/>
              </a:lnSpc>
              <a:spcBef>
                <a:spcPts val="0"/>
              </a:spcBef>
              <a:buFontTx/>
              <a:buNone/>
              <a:defRPr sz="1600" baseline="0">
                <a:solidFill>
                  <a:schemeClr val="bg1"/>
                </a:solidFill>
                <a:latin typeface="Merriweather Sans" panose="02000503060000020004"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endParaRPr lang="en-US" dirty="0"/>
          </a:p>
        </p:txBody>
      </p:sp>
    </p:spTree>
    <p:extLst>
      <p:ext uri="{BB962C8B-B14F-4D97-AF65-F5344CB8AC3E}">
        <p14:creationId xmlns:p14="http://schemas.microsoft.com/office/powerpoint/2010/main" val="7746333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Study_subject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C0E5861-BB4E-3045-9035-4C575A7CEE1B}"/>
              </a:ext>
            </a:extLst>
          </p:cNvPr>
          <p:cNvSpPr txBox="1">
            <a:spLocks/>
          </p:cNvSpPr>
          <p:nvPr userDrawn="1"/>
        </p:nvSpPr>
        <p:spPr>
          <a:xfrm>
            <a:off x="0" y="0"/>
            <a:ext cx="12192000" cy="1160585"/>
          </a:xfrm>
          <a:prstGeom prst="rect">
            <a:avLst/>
          </a:prstGeom>
          <a:solidFill>
            <a:srgbClr val="33196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GB" sz="3600" b="1" dirty="0">
              <a:solidFill>
                <a:schemeClr val="bg1"/>
              </a:solidFill>
              <a:latin typeface="MerriweatherSans-Book" panose="02000503060000020004" pitchFamily="2" charset="77"/>
            </a:endParaRPr>
          </a:p>
        </p:txBody>
      </p:sp>
      <p:sp>
        <p:nvSpPr>
          <p:cNvPr id="2" name="Title 1">
            <a:extLst>
              <a:ext uri="{FF2B5EF4-FFF2-40B4-BE49-F238E27FC236}">
                <a16:creationId xmlns:a16="http://schemas.microsoft.com/office/drawing/2014/main" id="{1C523BF2-011A-324A-8F68-658B42DB81BC}"/>
              </a:ext>
            </a:extLst>
          </p:cNvPr>
          <p:cNvSpPr>
            <a:spLocks noGrp="1"/>
          </p:cNvSpPr>
          <p:nvPr>
            <p:ph type="title" hasCustomPrompt="1"/>
          </p:nvPr>
        </p:nvSpPr>
        <p:spPr>
          <a:xfrm>
            <a:off x="0" y="0"/>
            <a:ext cx="12192000" cy="1325563"/>
          </a:xfrm>
        </p:spPr>
        <p:txBody>
          <a:bodyPr>
            <a:normAutofit/>
          </a:bodyPr>
          <a:lstStyle>
            <a:lvl1pPr algn="ctr">
              <a:lnSpc>
                <a:spcPct val="110000"/>
              </a:lnSpc>
              <a:defRPr sz="3600" baseline="0">
                <a:solidFill>
                  <a:schemeClr val="bg1"/>
                </a:solidFill>
                <a:latin typeface="Merriweather Sans" panose="02000503060000020004" pitchFamily="2" charset="77"/>
              </a:defRPr>
            </a:lvl1pPr>
          </a:lstStyle>
          <a:p>
            <a:r>
              <a:rPr lang="en-US" dirty="0"/>
              <a:t>Study subjects</a:t>
            </a:r>
          </a:p>
        </p:txBody>
      </p:sp>
      <p:sp>
        <p:nvSpPr>
          <p:cNvPr id="7" name="Text Placeholder 3">
            <a:extLst>
              <a:ext uri="{FF2B5EF4-FFF2-40B4-BE49-F238E27FC236}">
                <a16:creationId xmlns:a16="http://schemas.microsoft.com/office/drawing/2014/main" id="{5BB611BF-C83D-5247-8A2B-24BB94FE04CC}"/>
              </a:ext>
            </a:extLst>
          </p:cNvPr>
          <p:cNvSpPr>
            <a:spLocks noGrp="1"/>
          </p:cNvSpPr>
          <p:nvPr>
            <p:ph type="body" sz="half" idx="2"/>
          </p:nvPr>
        </p:nvSpPr>
        <p:spPr>
          <a:xfrm>
            <a:off x="0" y="1594022"/>
            <a:ext cx="12192000" cy="4274966"/>
          </a:xfrm>
        </p:spPr>
        <p:txBody>
          <a:bodyPr lIns="720000" rIns="720000" numCol="1" spcCol="36000">
            <a:normAutofit/>
          </a:bodyPr>
          <a:lstStyle>
            <a:lvl1pPr marL="0" indent="0">
              <a:lnSpc>
                <a:spcPct val="150000"/>
              </a:lnSpc>
              <a:spcBef>
                <a:spcPts val="0"/>
              </a:spcBef>
              <a:buFontTx/>
              <a:buNone/>
              <a:defRPr sz="1600" baseline="0">
                <a:solidFill>
                  <a:schemeClr val="bg1"/>
                </a:solidFill>
                <a:latin typeface="Merriweather Sans" panose="02000503060000020004"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endParaRPr lang="en-US" dirty="0"/>
          </a:p>
        </p:txBody>
      </p:sp>
    </p:spTree>
    <p:extLst>
      <p:ext uri="{BB962C8B-B14F-4D97-AF65-F5344CB8AC3E}">
        <p14:creationId xmlns:p14="http://schemas.microsoft.com/office/powerpoint/2010/main" val="3216150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Study_analysi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C0E5861-BB4E-3045-9035-4C575A7CEE1B}"/>
              </a:ext>
            </a:extLst>
          </p:cNvPr>
          <p:cNvSpPr txBox="1">
            <a:spLocks/>
          </p:cNvSpPr>
          <p:nvPr userDrawn="1"/>
        </p:nvSpPr>
        <p:spPr>
          <a:xfrm>
            <a:off x="0" y="0"/>
            <a:ext cx="12192000" cy="1160585"/>
          </a:xfrm>
          <a:prstGeom prst="rect">
            <a:avLst/>
          </a:prstGeom>
          <a:solidFill>
            <a:srgbClr val="33196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GB" sz="3600" b="1" dirty="0">
              <a:solidFill>
                <a:schemeClr val="bg1"/>
              </a:solidFill>
              <a:latin typeface="MerriweatherSans-Book" panose="02000503060000020004" pitchFamily="2" charset="77"/>
            </a:endParaRPr>
          </a:p>
        </p:txBody>
      </p:sp>
      <p:sp>
        <p:nvSpPr>
          <p:cNvPr id="2" name="Title 1">
            <a:extLst>
              <a:ext uri="{FF2B5EF4-FFF2-40B4-BE49-F238E27FC236}">
                <a16:creationId xmlns:a16="http://schemas.microsoft.com/office/drawing/2014/main" id="{1C523BF2-011A-324A-8F68-658B42DB81BC}"/>
              </a:ext>
            </a:extLst>
          </p:cNvPr>
          <p:cNvSpPr>
            <a:spLocks noGrp="1"/>
          </p:cNvSpPr>
          <p:nvPr>
            <p:ph type="title" hasCustomPrompt="1"/>
          </p:nvPr>
        </p:nvSpPr>
        <p:spPr>
          <a:xfrm>
            <a:off x="0" y="0"/>
            <a:ext cx="12192000" cy="1325563"/>
          </a:xfrm>
        </p:spPr>
        <p:txBody>
          <a:bodyPr>
            <a:normAutofit/>
          </a:bodyPr>
          <a:lstStyle>
            <a:lvl1pPr algn="ctr">
              <a:lnSpc>
                <a:spcPct val="110000"/>
              </a:lnSpc>
              <a:defRPr sz="3600" baseline="0">
                <a:solidFill>
                  <a:schemeClr val="bg1"/>
                </a:solidFill>
                <a:latin typeface="Merriweather Sans" panose="02000503060000020004" pitchFamily="2" charset="77"/>
              </a:defRPr>
            </a:lvl1pPr>
          </a:lstStyle>
          <a:p>
            <a:r>
              <a:rPr lang="en-US" dirty="0"/>
              <a:t>Study analysis</a:t>
            </a:r>
          </a:p>
        </p:txBody>
      </p:sp>
      <p:sp>
        <p:nvSpPr>
          <p:cNvPr id="7" name="Text Placeholder 3">
            <a:extLst>
              <a:ext uri="{FF2B5EF4-FFF2-40B4-BE49-F238E27FC236}">
                <a16:creationId xmlns:a16="http://schemas.microsoft.com/office/drawing/2014/main" id="{5BB611BF-C83D-5247-8A2B-24BB94FE04CC}"/>
              </a:ext>
            </a:extLst>
          </p:cNvPr>
          <p:cNvSpPr>
            <a:spLocks noGrp="1"/>
          </p:cNvSpPr>
          <p:nvPr>
            <p:ph type="body" sz="half" idx="2"/>
          </p:nvPr>
        </p:nvSpPr>
        <p:spPr>
          <a:xfrm>
            <a:off x="0" y="1594022"/>
            <a:ext cx="12192000" cy="4274966"/>
          </a:xfrm>
        </p:spPr>
        <p:txBody>
          <a:bodyPr lIns="720000" rIns="720000" numCol="1" spcCol="36000">
            <a:normAutofit/>
          </a:bodyPr>
          <a:lstStyle>
            <a:lvl1pPr marL="0" indent="0">
              <a:lnSpc>
                <a:spcPct val="150000"/>
              </a:lnSpc>
              <a:spcBef>
                <a:spcPts val="0"/>
              </a:spcBef>
              <a:buFontTx/>
              <a:buNone/>
              <a:defRPr sz="1200" baseline="0">
                <a:solidFill>
                  <a:schemeClr val="bg1"/>
                </a:solidFill>
                <a:latin typeface="Merriweather Sans" panose="02000503060000020004"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endParaRPr lang="en-US" dirty="0"/>
          </a:p>
        </p:txBody>
      </p:sp>
    </p:spTree>
    <p:extLst>
      <p:ext uri="{BB962C8B-B14F-4D97-AF65-F5344CB8AC3E}">
        <p14:creationId xmlns:p14="http://schemas.microsoft.com/office/powerpoint/2010/main" val="13883903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9_Study_limitation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C0E5861-BB4E-3045-9035-4C575A7CEE1B}"/>
              </a:ext>
            </a:extLst>
          </p:cNvPr>
          <p:cNvSpPr txBox="1">
            <a:spLocks/>
          </p:cNvSpPr>
          <p:nvPr userDrawn="1"/>
        </p:nvSpPr>
        <p:spPr>
          <a:xfrm>
            <a:off x="0" y="0"/>
            <a:ext cx="12192000" cy="1160585"/>
          </a:xfrm>
          <a:prstGeom prst="rect">
            <a:avLst/>
          </a:prstGeom>
          <a:solidFill>
            <a:srgbClr val="33196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GB" sz="3600" b="1" dirty="0">
              <a:solidFill>
                <a:schemeClr val="bg1"/>
              </a:solidFill>
              <a:latin typeface="MerriweatherSans-Book" panose="02000503060000020004" pitchFamily="2" charset="77"/>
            </a:endParaRPr>
          </a:p>
        </p:txBody>
      </p:sp>
      <p:sp>
        <p:nvSpPr>
          <p:cNvPr id="2" name="Title 1">
            <a:extLst>
              <a:ext uri="{FF2B5EF4-FFF2-40B4-BE49-F238E27FC236}">
                <a16:creationId xmlns:a16="http://schemas.microsoft.com/office/drawing/2014/main" id="{1C523BF2-011A-324A-8F68-658B42DB81BC}"/>
              </a:ext>
            </a:extLst>
          </p:cNvPr>
          <p:cNvSpPr>
            <a:spLocks noGrp="1"/>
          </p:cNvSpPr>
          <p:nvPr>
            <p:ph type="title" hasCustomPrompt="1"/>
          </p:nvPr>
        </p:nvSpPr>
        <p:spPr>
          <a:xfrm>
            <a:off x="0" y="0"/>
            <a:ext cx="12192000" cy="1325563"/>
          </a:xfrm>
        </p:spPr>
        <p:txBody>
          <a:bodyPr>
            <a:normAutofit/>
          </a:bodyPr>
          <a:lstStyle>
            <a:lvl1pPr algn="ctr">
              <a:lnSpc>
                <a:spcPct val="110000"/>
              </a:lnSpc>
              <a:defRPr sz="3600" baseline="0">
                <a:solidFill>
                  <a:schemeClr val="bg1"/>
                </a:solidFill>
                <a:latin typeface="Merriweather Sans" panose="02000503060000020004" pitchFamily="2" charset="77"/>
              </a:defRPr>
            </a:lvl1pPr>
          </a:lstStyle>
          <a:p>
            <a:r>
              <a:rPr lang="en-US" dirty="0"/>
              <a:t>Study limitations</a:t>
            </a:r>
          </a:p>
        </p:txBody>
      </p:sp>
      <p:sp>
        <p:nvSpPr>
          <p:cNvPr id="7" name="Text Placeholder 3">
            <a:extLst>
              <a:ext uri="{FF2B5EF4-FFF2-40B4-BE49-F238E27FC236}">
                <a16:creationId xmlns:a16="http://schemas.microsoft.com/office/drawing/2014/main" id="{5BB611BF-C83D-5247-8A2B-24BB94FE04CC}"/>
              </a:ext>
            </a:extLst>
          </p:cNvPr>
          <p:cNvSpPr>
            <a:spLocks noGrp="1"/>
          </p:cNvSpPr>
          <p:nvPr>
            <p:ph type="body" sz="half" idx="2"/>
          </p:nvPr>
        </p:nvSpPr>
        <p:spPr>
          <a:xfrm>
            <a:off x="0" y="1594022"/>
            <a:ext cx="12192000" cy="4274966"/>
          </a:xfrm>
        </p:spPr>
        <p:txBody>
          <a:bodyPr lIns="720000" rIns="720000" numCol="1" spcCol="36000">
            <a:normAutofit/>
          </a:bodyPr>
          <a:lstStyle>
            <a:lvl1pPr marL="0" indent="0">
              <a:lnSpc>
                <a:spcPct val="150000"/>
              </a:lnSpc>
              <a:spcBef>
                <a:spcPts val="0"/>
              </a:spcBef>
              <a:buFontTx/>
              <a:buNone/>
              <a:defRPr sz="1600" baseline="0">
                <a:solidFill>
                  <a:schemeClr val="bg1"/>
                </a:solidFill>
                <a:latin typeface="Merriweather Sans" panose="02000503060000020004"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endParaRPr lang="en-US" dirty="0"/>
          </a:p>
        </p:txBody>
      </p:sp>
    </p:spTree>
    <p:extLst>
      <p:ext uri="{BB962C8B-B14F-4D97-AF65-F5344CB8AC3E}">
        <p14:creationId xmlns:p14="http://schemas.microsoft.com/office/powerpoint/2010/main" val="32712377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0_Future_work">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C0E5861-BB4E-3045-9035-4C575A7CEE1B}"/>
              </a:ext>
            </a:extLst>
          </p:cNvPr>
          <p:cNvSpPr txBox="1">
            <a:spLocks/>
          </p:cNvSpPr>
          <p:nvPr userDrawn="1"/>
        </p:nvSpPr>
        <p:spPr>
          <a:xfrm>
            <a:off x="0" y="0"/>
            <a:ext cx="12192000" cy="1160585"/>
          </a:xfrm>
          <a:prstGeom prst="rect">
            <a:avLst/>
          </a:prstGeom>
          <a:solidFill>
            <a:srgbClr val="33196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GB" sz="3600" b="1" dirty="0">
              <a:solidFill>
                <a:schemeClr val="bg1"/>
              </a:solidFill>
              <a:latin typeface="MerriweatherSans-Book" panose="02000503060000020004" pitchFamily="2" charset="77"/>
            </a:endParaRPr>
          </a:p>
        </p:txBody>
      </p:sp>
      <p:sp>
        <p:nvSpPr>
          <p:cNvPr id="2" name="Title 1">
            <a:extLst>
              <a:ext uri="{FF2B5EF4-FFF2-40B4-BE49-F238E27FC236}">
                <a16:creationId xmlns:a16="http://schemas.microsoft.com/office/drawing/2014/main" id="{1C523BF2-011A-324A-8F68-658B42DB81BC}"/>
              </a:ext>
            </a:extLst>
          </p:cNvPr>
          <p:cNvSpPr>
            <a:spLocks noGrp="1"/>
          </p:cNvSpPr>
          <p:nvPr>
            <p:ph type="title" hasCustomPrompt="1"/>
          </p:nvPr>
        </p:nvSpPr>
        <p:spPr>
          <a:xfrm>
            <a:off x="0" y="0"/>
            <a:ext cx="12192000" cy="1325563"/>
          </a:xfrm>
        </p:spPr>
        <p:txBody>
          <a:bodyPr>
            <a:normAutofit/>
          </a:bodyPr>
          <a:lstStyle>
            <a:lvl1pPr algn="ctr">
              <a:lnSpc>
                <a:spcPct val="110000"/>
              </a:lnSpc>
              <a:defRPr sz="3600" baseline="0">
                <a:solidFill>
                  <a:schemeClr val="bg1"/>
                </a:solidFill>
                <a:latin typeface="Merriweather Sans" panose="02000503060000020004" pitchFamily="2" charset="77"/>
              </a:defRPr>
            </a:lvl1pPr>
          </a:lstStyle>
          <a:p>
            <a:r>
              <a:rPr lang="en-US" dirty="0"/>
              <a:t>Future work</a:t>
            </a:r>
          </a:p>
        </p:txBody>
      </p:sp>
      <p:sp>
        <p:nvSpPr>
          <p:cNvPr id="7" name="Text Placeholder 3">
            <a:extLst>
              <a:ext uri="{FF2B5EF4-FFF2-40B4-BE49-F238E27FC236}">
                <a16:creationId xmlns:a16="http://schemas.microsoft.com/office/drawing/2014/main" id="{5BB611BF-C83D-5247-8A2B-24BB94FE04CC}"/>
              </a:ext>
            </a:extLst>
          </p:cNvPr>
          <p:cNvSpPr>
            <a:spLocks noGrp="1"/>
          </p:cNvSpPr>
          <p:nvPr>
            <p:ph type="body" sz="half" idx="2"/>
          </p:nvPr>
        </p:nvSpPr>
        <p:spPr>
          <a:xfrm>
            <a:off x="0" y="1594022"/>
            <a:ext cx="12192000" cy="4274966"/>
          </a:xfrm>
        </p:spPr>
        <p:txBody>
          <a:bodyPr lIns="720000" rIns="720000" numCol="1" spcCol="36000">
            <a:normAutofit/>
          </a:bodyPr>
          <a:lstStyle>
            <a:lvl1pPr marL="0" indent="0">
              <a:lnSpc>
                <a:spcPct val="150000"/>
              </a:lnSpc>
              <a:spcBef>
                <a:spcPts val="0"/>
              </a:spcBef>
              <a:buFontTx/>
              <a:buNone/>
              <a:defRPr sz="1600" baseline="0">
                <a:solidFill>
                  <a:schemeClr val="bg1"/>
                </a:solidFill>
                <a:latin typeface="Merriweather Sans" panose="02000503060000020004"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endParaRPr lang="en-US" dirty="0"/>
          </a:p>
        </p:txBody>
      </p:sp>
    </p:spTree>
    <p:extLst>
      <p:ext uri="{BB962C8B-B14F-4D97-AF65-F5344CB8AC3E}">
        <p14:creationId xmlns:p14="http://schemas.microsoft.com/office/powerpoint/2010/main" val="19837602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1_Figure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C0E5861-BB4E-3045-9035-4C575A7CEE1B}"/>
              </a:ext>
            </a:extLst>
          </p:cNvPr>
          <p:cNvSpPr txBox="1">
            <a:spLocks/>
          </p:cNvSpPr>
          <p:nvPr userDrawn="1"/>
        </p:nvSpPr>
        <p:spPr>
          <a:xfrm>
            <a:off x="0" y="0"/>
            <a:ext cx="12192000" cy="1160585"/>
          </a:xfrm>
          <a:prstGeom prst="rect">
            <a:avLst/>
          </a:prstGeom>
          <a:solidFill>
            <a:srgbClr val="331969"/>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GB" sz="3600" b="1" dirty="0">
              <a:solidFill>
                <a:schemeClr val="bg1"/>
              </a:solidFill>
              <a:latin typeface="MerriweatherSans-Book" panose="02000503060000020004" pitchFamily="2" charset="77"/>
            </a:endParaRPr>
          </a:p>
        </p:txBody>
      </p:sp>
      <p:sp>
        <p:nvSpPr>
          <p:cNvPr id="2" name="Title 1">
            <a:extLst>
              <a:ext uri="{FF2B5EF4-FFF2-40B4-BE49-F238E27FC236}">
                <a16:creationId xmlns:a16="http://schemas.microsoft.com/office/drawing/2014/main" id="{1C523BF2-011A-324A-8F68-658B42DB81BC}"/>
              </a:ext>
            </a:extLst>
          </p:cNvPr>
          <p:cNvSpPr>
            <a:spLocks noGrp="1"/>
          </p:cNvSpPr>
          <p:nvPr>
            <p:ph type="title" hasCustomPrompt="1"/>
          </p:nvPr>
        </p:nvSpPr>
        <p:spPr>
          <a:xfrm>
            <a:off x="0" y="0"/>
            <a:ext cx="12192000" cy="1160585"/>
          </a:xfrm>
        </p:spPr>
        <p:txBody>
          <a:bodyPr>
            <a:normAutofit/>
          </a:bodyPr>
          <a:lstStyle>
            <a:lvl1pPr algn="ctr">
              <a:lnSpc>
                <a:spcPct val="110000"/>
              </a:lnSpc>
              <a:defRPr sz="3600" baseline="0">
                <a:solidFill>
                  <a:schemeClr val="bg1"/>
                </a:solidFill>
                <a:latin typeface="Merriweather Sans" panose="02000503060000020004" pitchFamily="2" charset="77"/>
              </a:defRPr>
            </a:lvl1pPr>
          </a:lstStyle>
          <a:p>
            <a:r>
              <a:rPr lang="en-US" dirty="0"/>
              <a:t>Figure</a:t>
            </a:r>
          </a:p>
        </p:txBody>
      </p:sp>
      <p:sp>
        <p:nvSpPr>
          <p:cNvPr id="7" name="Text Placeholder 3">
            <a:extLst>
              <a:ext uri="{FF2B5EF4-FFF2-40B4-BE49-F238E27FC236}">
                <a16:creationId xmlns:a16="http://schemas.microsoft.com/office/drawing/2014/main" id="{5BB611BF-C83D-5247-8A2B-24BB94FE04CC}"/>
              </a:ext>
            </a:extLst>
          </p:cNvPr>
          <p:cNvSpPr>
            <a:spLocks noGrp="1"/>
          </p:cNvSpPr>
          <p:nvPr>
            <p:ph type="body" sz="half" idx="2"/>
          </p:nvPr>
        </p:nvSpPr>
        <p:spPr>
          <a:xfrm>
            <a:off x="9107556" y="1160583"/>
            <a:ext cx="2869096" cy="4544477"/>
          </a:xfrm>
        </p:spPr>
        <p:txBody>
          <a:bodyPr lIns="180000" tIns="180000" rIns="180000" numCol="1" spcCol="36000">
            <a:normAutofit/>
          </a:bodyPr>
          <a:lstStyle>
            <a:lvl1pPr marL="0" indent="0">
              <a:lnSpc>
                <a:spcPct val="150000"/>
              </a:lnSpc>
              <a:spcBef>
                <a:spcPts val="0"/>
              </a:spcBef>
              <a:buFontTx/>
              <a:buNone/>
              <a:defRPr sz="1000" baseline="0">
                <a:solidFill>
                  <a:schemeClr val="bg1"/>
                </a:solidFill>
                <a:latin typeface="Merriweather Sans" panose="02000503060000020004" pitchFamily="2"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endParaRPr lang="en-US" dirty="0"/>
          </a:p>
        </p:txBody>
      </p:sp>
      <p:sp>
        <p:nvSpPr>
          <p:cNvPr id="4" name="Picture Placeholder 3">
            <a:extLst>
              <a:ext uri="{FF2B5EF4-FFF2-40B4-BE49-F238E27FC236}">
                <a16:creationId xmlns:a16="http://schemas.microsoft.com/office/drawing/2014/main" id="{A05D0BE0-A420-D342-8B5A-1B0DD7D31542}"/>
              </a:ext>
            </a:extLst>
          </p:cNvPr>
          <p:cNvSpPr>
            <a:spLocks noGrp="1" noChangeAspect="1"/>
          </p:cNvSpPr>
          <p:nvPr>
            <p:ph type="pic" sz="quarter" idx="10"/>
          </p:nvPr>
        </p:nvSpPr>
        <p:spPr>
          <a:xfrm>
            <a:off x="1" y="1160584"/>
            <a:ext cx="8975034" cy="5697415"/>
          </a:xfrm>
        </p:spPr>
        <p:txBody>
          <a:bodyPr>
            <a:normAutofit/>
          </a:bodyPr>
          <a:lstStyle>
            <a:lvl1pPr marL="0" indent="0">
              <a:buFontTx/>
              <a:buNone/>
              <a:defRPr sz="900" baseline="0">
                <a:latin typeface="Merriweather Sans" panose="02000503060000020004" pitchFamily="2" charset="77"/>
              </a:defRPr>
            </a:lvl1pPr>
          </a:lstStyle>
          <a:p>
            <a:endParaRPr lang="en-US" dirty="0"/>
          </a:p>
        </p:txBody>
      </p:sp>
    </p:spTree>
    <p:extLst>
      <p:ext uri="{BB962C8B-B14F-4D97-AF65-F5344CB8AC3E}">
        <p14:creationId xmlns:p14="http://schemas.microsoft.com/office/powerpoint/2010/main" val="2624071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4D308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522C0A-DAAD-9941-AE9A-C52E4B563A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811B318-E9FF-104B-B392-F0FD25D183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Picture 5">
            <a:extLst>
              <a:ext uri="{FF2B5EF4-FFF2-40B4-BE49-F238E27FC236}">
                <a16:creationId xmlns:a16="http://schemas.microsoft.com/office/drawing/2014/main" id="{4413DEF4-1C6D-591F-56E5-DE7093152F45}"/>
              </a:ext>
            </a:extLst>
          </p:cNvPr>
          <p:cNvPicPr>
            <a:picLocks noChangeAspect="1"/>
          </p:cNvPicPr>
          <p:nvPr userDrawn="1"/>
        </p:nvPicPr>
        <p:blipFill>
          <a:blip r:embed="rId13"/>
          <a:stretch>
            <a:fillRect/>
          </a:stretch>
        </p:blipFill>
        <p:spPr>
          <a:xfrm>
            <a:off x="11391900" y="6057900"/>
            <a:ext cx="800100" cy="800100"/>
          </a:xfrm>
          <a:prstGeom prst="rect">
            <a:avLst/>
          </a:prstGeom>
        </p:spPr>
      </p:pic>
    </p:spTree>
    <p:extLst>
      <p:ext uri="{BB962C8B-B14F-4D97-AF65-F5344CB8AC3E}">
        <p14:creationId xmlns:p14="http://schemas.microsoft.com/office/powerpoint/2010/main" val="230309918"/>
      </p:ext>
    </p:extLst>
  </p:cSld>
  <p:clrMap bg1="lt1" tx1="dk1" bg2="lt2" tx2="dk2" accent1="accent1" accent2="accent2" accent3="accent3" accent4="accent4" accent5="accent5" accent6="accent6" hlink="hlink" folHlink="folHlink"/>
  <p:sldLayoutIdLst>
    <p:sldLayoutId id="2147483649" r:id="rId1"/>
    <p:sldLayoutId id="2147483654"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846245D-9913-1246-A32F-96EDC12D199C}"/>
              </a:ext>
            </a:extLst>
          </p:cNvPr>
          <p:cNvSpPr>
            <a:spLocks noGrp="1"/>
          </p:cNvSpPr>
          <p:nvPr>
            <p:ph type="ctrTitle"/>
          </p:nvPr>
        </p:nvSpPr>
        <p:spPr/>
        <p:txBody>
          <a:bodyPr/>
          <a:lstStyle/>
          <a:p>
            <a:r>
              <a:t>[2103.05677] SMIL: Multimodal Learning with Severely Missing Modality</a:t>
            </a:r>
          </a:p>
        </p:txBody>
      </p:sp>
      <p:sp>
        <p:nvSpPr>
          <p:cNvPr id="8" name="Subtitle 7">
            <a:extLst>
              <a:ext uri="{FF2B5EF4-FFF2-40B4-BE49-F238E27FC236}">
                <a16:creationId xmlns:a16="http://schemas.microsoft.com/office/drawing/2014/main" id="{D0FECA8E-2BE1-9A44-84D5-6DFB1593754B}"/>
              </a:ext>
            </a:extLst>
          </p:cNvPr>
          <p:cNvSpPr>
            <a:spLocks noGrp="1"/>
          </p:cNvSpPr>
          <p:nvPr>
            <p:ph type="subTitle" idx="1"/>
          </p:nvPr>
        </p:nvSpPr>
        <p:spPr/>
        <p:txBody>
          <a:bodyPr/>
          <a:lstStyle/>
          <a:p>
            <a:r>
              <a:t>A meta‑learning framework (SMSM) that combines K‑means‑guided missing modality reconstruction, uncertainty‑guided feature regularization, and Bayesian inference achieves superior classification performance under severely missing modalities compared to generative baselines.</a:t>
            </a:r>
          </a:p>
        </p:txBody>
      </p:sp>
      <p:sp>
        <p:nvSpPr>
          <p:cNvPr id="9" name="Text Placeholder 8">
            <a:extLst>
              <a:ext uri="{FF2B5EF4-FFF2-40B4-BE49-F238E27FC236}">
                <a16:creationId xmlns:a16="http://schemas.microsoft.com/office/drawing/2014/main" id="{8D96F264-76DA-A940-88C1-AA83C5085B20}"/>
              </a:ext>
            </a:extLst>
          </p:cNvPr>
          <p:cNvSpPr>
            <a:spLocks noGrp="1"/>
          </p:cNvSpPr>
          <p:nvPr>
            <p:ph type="body" sz="quarter" idx="10"/>
          </p:nvPr>
        </p:nvSpPr>
        <p:spPr/>
        <p:txBody>
          <a:bodyPr/>
          <a:lstStyle/>
          <a:p>
            <a:r>
              <a:t>Mengmeng Ma1,  Jian Ren2,  Long Zhao3</a:t>
            </a:r>
          </a:p>
          <a:p>
            <a:r>
              <a:t>2026</a:t>
            </a:r>
          </a:p>
        </p:txBody>
      </p:sp>
    </p:spTree>
    <p:extLst>
      <p:ext uri="{BB962C8B-B14F-4D97-AF65-F5344CB8AC3E}">
        <p14:creationId xmlns:p14="http://schemas.microsoft.com/office/powerpoint/2010/main" val="6283491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concepts</a:t>
            </a:r>
          </a:p>
        </p:txBody>
      </p:sp>
      <p:sp>
        <p:nvSpPr>
          <p:cNvPr id="3" name="Text Placeholder 2"/>
          <p:cNvSpPr>
            <a:spLocks noGrp="1"/>
          </p:cNvSpPr>
          <p:nvPr>
            <p:ph type="body" sz="half" idx="2"/>
          </p:nvPr>
        </p:nvSpPr>
        <p:spPr/>
        <p:txBody>
          <a:bodyPr/>
          <a:lstStyle/>
          <a:p>
            <a:r>
              <a:t>meta learning</a:t>
            </a:r>
          </a:p>
          <a:p>
            <a:r>
              <a:t>multimodal learning</a:t>
            </a:r>
          </a:p>
          <a:p>
            <a:r>
              <a:t>Variational Autoencoder</a:t>
            </a:r>
          </a:p>
          <a:p>
            <a:r>
              <a:t>Generative Adversarial Network</a:t>
            </a:r>
          </a:p>
          <a:p>
            <a:r>
              <a:t>MOSI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Abstract</a:t>
            </a:r>
          </a:p>
        </p:txBody>
      </p:sp>
      <p:sp>
        <p:nvSpPr>
          <p:cNvPr id="3" name="Text Placeholder 2"/>
          <p:cNvSpPr>
            <a:spLocks noGrp="1"/>
          </p:cNvSpPr>
          <p:nvPr>
            <p:ph type="body" sz="half" idx="2"/>
          </p:nvPr>
        </p:nvSpPr>
        <p:spPr/>
        <p:txBody>
          <a:bodyPr/>
          <a:lstStyle/>
          <a:p>
            <a:r>
              <a:t>A common assumption in multimodal learning is the completeness of training data, i.e., full modalities are available in all training examples. Although there exists research endeavor in developing novel methods to tackle the incompleteness of testing data, e.g., modalities are partially missing in testing examples, few of them can handle incomplete training modalities. The problem becomes even more challenging if considering the case of severely missing, e.g., 90% training examples may have incomplete modalities. For the first time in the literature, this paper formally studies multimodal learning with missing modality in terms of flexibility (missing modalities in training, testing, or both) and efficiency (most training data have incomplete modality). Technically, we propose a new method named SMIL that leverages Bayesian meta-learning in uniformly achieving both objectives. To validate our idea, we conduct a series of experiments on three popular benchmarks: MM-IMDb, CMU-MOSI, and avMNIST. The results prove the state-of-the-art performance of SMIL over existing methods and generative baselines including autoencoders and generative adversarial networks. Our code is available at https://github.com/mengmenm/SMIL.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Builds on previous research</a:t>
            </a:r>
          </a:p>
        </p:txBody>
      </p:sp>
      <p:sp>
        <p:nvSpPr>
          <p:cNvPr id="3" name="Text Placeholder 2"/>
          <p:cNvSpPr>
            <a:spLocks noGrp="1"/>
          </p:cNvSpPr>
          <p:nvPr>
            <p:ph type="body" sz="half" idx="2"/>
          </p:nvPr>
        </p:nvSpPr>
        <p:spPr/>
        <p:txBody>
          <a:bodyPr/>
          <a:lstStyle/>
          <a:p>
            <a:r>
              <a:t>One important direction in this area is multimodal fusion, which focuses on effective fusion of multimodal data. Early fusion is a common method which fuses different modalities by feature concatenation, and it has been widely adopted in previous studies (Wang et al 2017; Poria et al 2016).                                                                            Page 2</a:t>
            </a:r>
          </a:p>
          <a:p>
            <a:endParaRPr/>
          </a:p>
          <a:p>
            <a:r>
              <a:t>However, under severely missing modality, it is non-trivial to train a reconstruction network from limited modality-complete samples. Inspired by (Kuo et al 2019), we approximate the missing modality using a weighted sum of modality priors learned from the modality-complete dataset.                                                                            Page 3</a:t>
            </a:r>
          </a:p>
          <a:p>
            <a:endParaRPr/>
          </a:p>
          <a:p>
            <a:r>
              <a:t>The dataset includes $25,956$ movies and $23$ classes. We follow the training and validation splits provided in the previous work (Vielzeuf et al 2018).                                                                            Page 4</a:t>
            </a:r>
          </a:p>
          <a:p>
            <a:endParaRPr/>
          </a:p>
          <a:p>
            <a:r>
              <a:t>We train the models for $10,000$ iteration with a learning rate of $10^{-4}$ for inner-loop and $10^{-3}$ fro outer-loop. Besides, we follow previous work (Vielzeuf et al 2018) to add a weight of $2.0$ on the positive label to balance the precision and recall since the labels are unbalanced.                                                                            Page 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Differs from previous work</a:t>
            </a:r>
          </a:p>
        </p:txBody>
      </p:sp>
      <p:sp>
        <p:nvSpPr>
          <p:cNvPr id="3" name="Text Placeholder 2"/>
          <p:cNvSpPr>
            <a:spLocks noGrp="1"/>
          </p:cNvSpPr>
          <p:nvPr>
            <p:ph type="body" sz="half" idx="2"/>
          </p:nvPr>
        </p:nvSpPr>
        <p:spPr/>
        <p:txBody>
          <a:bodyPr/>
          <a:lstStyle/>
          <a:p>
            <a:r>
              <a:t>Lee et al(Lee et al 2020b) proposed a more general algorithm for latent feature regularization. Other than perturbing features, we propose to learn the regularization function following (Lee et al 2020b) but regularize the feature to reduce discrepancy between the reconstructed and true modality.                                                                            Page 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Snapshot</a:t>
            </a:r>
          </a:p>
        </p:txBody>
      </p:sp>
      <p:sp>
        <p:nvSpPr>
          <p:cNvPr id="3" name="Text Placeholder 2"/>
          <p:cNvSpPr>
            <a:spLocks noGrp="1"/>
          </p:cNvSpPr>
          <p:nvPr>
            <p:ph type="body" sz="half" idx="2"/>
          </p:nvPr>
        </p:nvSpPr>
        <p:spPr/>
        <p:txBody>
          <a:bodyPr/>
          <a:lstStyle/>
          <a:p>
            <a:r>
              <a:t>A meta‑learning framework (SMSM) that combines K‑means‑guided missing modality reconstruction, uncertainty‑guided feature regularization, and Bayesian inference achieves superior classification performance under severely missing modalities compared to generative baselines.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findings</a:t>
            </a:r>
          </a:p>
        </p:txBody>
      </p:sp>
      <p:sp>
        <p:nvSpPr>
          <p:cNvPr id="3" name="Text Placeholder 2"/>
          <p:cNvSpPr>
            <a:spLocks noGrp="1"/>
          </p:cNvSpPr>
          <p:nvPr>
            <p:ph type="body" sz="half" idx="2"/>
          </p:nvPr>
        </p:nvSpPr>
        <p:spPr/>
        <p:txBody>
          <a:bodyPr/>
          <a:lstStyle/>
          <a:p>
            <a:r>
              <a:t>We highlight that our method is better than typical generative designs, such as Autoencoder (AE)(Tran et al 2017), Variational Autoencoder (VAE)(Kingma and Welling 2013), or Generative Adversarial Network (GAN)(Goodfellow et al 2014), since they often require a significant amount of full-modality data to learn from, which is usually not available in severely missing modality learning</a:t>
            </a:r>
          </a:p>
          <a:p>
            <a:r>
              <a:t>To the best of our knowledge, we are the first work to systematically study the problem of multimodal learning with severely missing modality</a:t>
            </a:r>
          </a:p>
          <a:p>
            <a:r>
              <a:t>We are interested in multimodal learning with severely missing modality, e.g., 90% of the training samples contain incomplete modalities</a:t>
            </a:r>
          </a:p>
          <a:p>
            <a:r>
              <a:t>Our approach significantly outperforms all baselines among all ratios of modality missing, which showcases the efficiency of our approach in the missing modality problem</a:t>
            </a:r>
          </a:p>
          <a:p>
            <a:r>
              <a:t>We analyze the results of the proposed algorithm for multimodal learning with severely missing modality on three datasets from two perspectives: efficiency under severely missing modality (Section 4.2) and flexibility to various modality missing pattern (Section 4.3)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Objectives</a:t>
            </a:r>
          </a:p>
        </p:txBody>
      </p:sp>
      <p:sp>
        <p:nvSpPr>
          <p:cNvPr id="3" name="Text Placeholder 2"/>
          <p:cNvSpPr>
            <a:spLocks noGrp="1"/>
          </p:cNvSpPr>
          <p:nvPr>
            <p:ph type="body" sz="half" idx="2"/>
          </p:nvPr>
        </p:nvSpPr>
        <p:spPr/>
        <p:txBody>
          <a:bodyPr/>
          <a:lstStyle/>
          <a:p>
            <a:r>
              <a:t>The work aims to (1) develop a learning strategy that can reconstruct missing modalities without bias, (2) regularize multimodal features to reduce cross‑modal discrepancy, and (3) employ a Bayesian meta‑learning framework to infer posterior distributions for robust performance under various missing patterns.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Methods</a:t>
            </a:r>
          </a:p>
        </p:txBody>
      </p:sp>
      <p:sp>
        <p:nvSpPr>
          <p:cNvPr id="3" name="Text Placeholder 2"/>
          <p:cNvSpPr>
            <a:spLocks noGrp="1"/>
          </p:cNvSpPr>
          <p:nvPr>
            <p:ph type="body" sz="half" idx="2"/>
          </p:nvPr>
        </p:nvSpPr>
        <p:spPr/>
        <p:txBody>
          <a:bodyPr/>
          <a:lstStyle/>
          <a:p>
            <a:r>
              <a:t>The approach integrates three components within a modified Model‑Agnostic Meta‑Learning (MAML) loop: (i) a main prediction network $f_{\theta}$; (ii) a feature‑reconstruction network $f_{\phi_{c}}$ that generates approximations of missing‑modality features from available modalities; and (iii) a feature‑regularization network $f_{\phi_{r}}$ that uses Bayesian neural‑network‑based uncertainty to perturb latent features and reduce bias. Reconstruction is trained by predicting weighted combinations of modality priors learned from the limited complete data, while regularization leverages uncertainty estimates to guide learning.</a:t>
            </a:r>
          </a:p>
          <a:p>
            <a:r>
              <a:t>Model modality weights $\bm{\omega}$ as $\mathcal{N}(\mathbf{I},\bm{\sigma})$, where $\bm{\sigma}=f_{\phi_c}(\mathbf{x}^1)$ is predicted by a feature‑reconstruction network.</a:t>
            </a:r>
          </a:p>
          <a:p>
            <a:r>
              <a:t>Reconstruct missing modality $\hat{\mathbf{x}}^{2}$ via the weighted sum $\langle\bm{\omega},\mathcal{M}\rangle$.</a:t>
            </a:r>
          </a:p>
          <a:p>
            <a:r>
              <a:t>Introduce a feature‑regularization network that outputs a Gaussian $\mathcal{N}(\bm{\mu},\bm{\sigma})$; the sampled regularization $\mathbf{r}$ modulates latent features through a Softplus‑scaled operation.</a:t>
            </a:r>
          </a:p>
          <a:p>
            <a:r>
              <a:t>Employ a bilevel meta‑learning scheme: inner loop updates main network parameters $\theta$ using loss on partially‑observed data $D^{m}$; outer loop updates all parameters $\{\theta,\phi_c,\phi_r\}$ based on loss on full data $D^{f}$. = \theta - \alpha \nabla_{\theta}\mathcal{L}(D^{m};\psi)$.”}</a:t>
            </a:r>
          </a:p>
          <a:p>
            <a:r>
              <a:t>Optimize a variational lower bound: $\mathcal{L}_{\theta,\psi}= \mathbb{E}_{q(z|X)}[\log p(Y|X,z;\theta)] - \mathrm{KL}[q(z|X;\psi)\|p(z|X)]$, approximated via Monte‑Carlo sampling.</a:t>
            </a:r>
          </a:p>
          <a:p>
            <a:r>
              <a:t>Training details: Adam optimizer, batch sizes (32 for CMU-MOSI, 128 for MM-IMDb), learning rates $10^{-4}$ (inner) and $10^{-4}$–$10^{-3}$ (outer), 5k–10k iterations.</a:t>
            </a:r>
          </a:p>
          <a:p>
            <a:r>
              <a:t>Two modality‑specific feature extractors (standard LeNet‑5 for images and a modified version for audio) extract features that are concatenated and fed into fully‑connected layers for classification; training uses Adam (batch size 64, 15 000 iterations, learning rate 10⁻³) for both inner and outer loops of meta‑learning. Missing modalities are reconstructed via a network that generates feature weights guided by K‑means clustering; uncertainty‑guided feature regularization reduces representation discrepancy; a Bayesian approach with variational inference models the posterior over reconstruction and regularization parameters.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Results</a:t>
            </a:r>
          </a:p>
        </p:txBody>
      </p:sp>
      <p:sp>
        <p:nvSpPr>
          <p:cNvPr id="3" name="Text Placeholder 2"/>
          <p:cNvSpPr>
            <a:spLocks noGrp="1"/>
          </p:cNvSpPr>
          <p:nvPr>
            <p:ph type="body" sz="half" idx="2"/>
          </p:nvPr>
        </p:nvSpPr>
        <p:spPr/>
        <p:txBody>
          <a:bodyPr/>
          <a:lstStyle/>
          <a:p>
            <a:r>
              <a:t>Across all three benchmarks, SMIL consistently outperforms prior multimodal methods and strong generative baselines such as autoencoders, VAEs, and GANs, demonstrating superior accuracy even when 90 % of training samples are missing a modality.</a:t>
            </a:r>
          </a:p>
          <a:p>
            <a:r>
              <a:t>Across all missing‑data ratios, the proposed method outperforms all baselines (Lower‑Bound, AE, GAN, MVAE) on both CMU-MOSI and MM‑IMDb.</a:t>
            </a:r>
          </a:p>
          <a:p>
            <a:r>
              <a:t>When only 20 % of text data is available (η=20 %), accuracy gains over AE and GAN are ~5.0 %; when η=10 %, gains increase to 7.6 % and 7.4 % respectively.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Conclusions</a:t>
            </a:r>
          </a:p>
        </p:txBody>
      </p:sp>
      <p:sp>
        <p:nvSpPr>
          <p:cNvPr id="3" name="Text Placeholder 2"/>
          <p:cNvSpPr>
            <a:spLocks noGrp="1"/>
          </p:cNvSpPr>
          <p:nvPr>
            <p:ph type="body" sz="half" idx="2"/>
          </p:nvPr>
        </p:nvSpPr>
        <p:spPr/>
        <p:txBody>
          <a:bodyPr/>
          <a:lstStyle/>
          <a:p>
            <a:r>
              <a:t>The study establishes that multimodal learning can be both flexible and efficient under severe modality loss by using Bayesian meta‑learning and feature‑level reconstruction, marking the first systematic treatment of this problem and setting a new performance baseline.</a:t>
            </a:r>
          </a:p>
          <a:p>
            <a:r>
              <a:t>The proposed SMIL framework effectively handles severely missing modalities by leveraging meta‑learned reconstruction, regularization, and Bayesian inference, achieving consistent improvements over generative baselines across multiple datasets and missing patterns.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Missing Pattern 1 (test Image Only)</a:t>
            </a:r>
          </a:p>
        </p:txBody>
      </p:sp>
      <p:sp>
        <p:nvSpPr>
          <p:cNvPr id="3" name="Text Placeholder 2"/>
          <p:cNvSpPr>
            <a:spLocks noGrp="1"/>
          </p:cNvSpPr>
          <p:nvPr>
            <p:ph type="body" sz="half" idx="2"/>
          </p:nvPr>
        </p:nvSpPr>
        <p:spPr/>
        <p:txBody>
          <a:bodyPr/>
          <a:lstStyle/>
          <a:p>
            <a:r>
              <a:t>With 20 % audio during training, SMIL outperforms the best generative baseline by 6.7 % and the lower bound by 3.3 %; with only 5 % audio, it is 1.10 % higher than the lower bound.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Missing Pattern 2 (test Image + Audio)</a:t>
            </a:r>
          </a:p>
        </p:txBody>
      </p:sp>
      <p:sp>
        <p:nvSpPr>
          <p:cNvPr id="3" name="Text Placeholder 2"/>
          <p:cNvSpPr>
            <a:spLocks noGrp="1"/>
          </p:cNvSpPr>
          <p:nvPr>
            <p:ph type="body" sz="half" idx="2"/>
          </p:nvPr>
        </p:nvSpPr>
        <p:spPr/>
        <p:txBody>
          <a:bodyPr/>
          <a:lstStyle/>
          <a:p>
            <a:r>
              <a:t>SMIL exceeds the lower bound by 4.3 % and generative methods by 2.1 %; its performance drop when moving from two modalities to one is only 1.0 % versus 5.6 % for AE/GAN.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Ablation On MM‑IMDb</a:t>
            </a:r>
          </a:p>
        </p:txBody>
      </p:sp>
      <p:sp>
        <p:nvSpPr>
          <p:cNvPr id="3" name="Text Placeholder 2"/>
          <p:cNvSpPr>
            <a:spLocks noGrp="1"/>
          </p:cNvSpPr>
          <p:nvPr>
            <p:ph type="body" sz="half" idx="2"/>
          </p:nvPr>
        </p:nvSpPr>
        <p:spPr/>
        <p:txBody>
          <a:bodyPr/>
          <a:lstStyle/>
          <a:p>
            <a:r>
              <a:t>Removing K‑means (SMIL w/o K‑means) degrades performance, confirming its necessity; omitting feature regularization (SMIL w/o Regularization) also reduces accuracy, highlighting the benefit of regularization; deterministic or fixed‑Gaussian variants of the Bayesian component underperform the full Bayesian approach, demonstrating the advantage of Bayesian inference.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Study subjects</a:t>
            </a:r>
          </a:p>
        </p:txBody>
      </p:sp>
      <p:sp>
        <p:nvSpPr>
          <p:cNvPr id="3" name="Text Placeholder 2"/>
          <p:cNvSpPr>
            <a:spLocks noGrp="1"/>
          </p:cNvSpPr>
          <p:nvPr>
            <p:ph type="body" sz="half" idx="2"/>
          </p:nvPr>
        </p:nvSpPr>
        <p:spPr/>
        <p:txBody>
          <a:bodyPr/>
          <a:lstStyle/>
          <a:p>
            <a:r>
              <a:rPr b="1"/>
              <a:t>3 datasets
</a:t>
            </a:r>
            <a:r>
              <a:t>In this section, we analyze the results of the proposed algorithm for multimodal learning with severely missing modality on three datasets from two perspectives: efficiency under severely missing modality (Section 4.2) and flexibility to various modality missing pattern (Section 4.3).Experiment SettingDatasets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Study analysis</a:t>
            </a:r>
          </a:p>
        </p:txBody>
      </p:sp>
      <p:sp>
        <p:nvSpPr>
          <p:cNvPr id="3" name="Text Placeholder 2"/>
          <p:cNvSpPr>
            <a:spLocks noGrp="1"/>
          </p:cNvSpPr>
          <p:nvPr>
            <p:ph type="body" sz="half" idx="2"/>
          </p:nvPr>
        </p:nvSpPr>
        <p:spPr/>
        <p:txBody>
          <a:bodyPr/>
          <a:lstStyle/>
          <a:p>
            <a:r>
              <a:rPr b="1"/>
              <a:t>K-means
</a:t>
            </a:r>
            <a:r>
              <a:t>We achieve this by learning a set of modality priors $\mathcal{M}$ which can be clustered among all modality-complete samples using K-means (MacQueen 1967) or PCA (Pearson 1901)
</a:t>
            </a:r>
            <a:r>
              <a:rPr b="1"/>
              <a:t>Gaussian distribution
</a:t>
            </a:r>
            <a:r>
              <a:t>Instead of generating a deterministic regularization $\mathbf{r}=f_{\phi_{r}}(\mathbf{h}^{l-1})$, we assume that $\mathbf{r}$ follows a multivariate Gaussian distribution $\mathcal{N}(\bm{\mu},\bm{\sigma})$, where the means and variances are calculated using $(\bm{\mu},\bm{\sigma})$ = $f_{\phi_{r}}(\mathbf{h}^{l-1})$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Study limitations</a:t>
            </a:r>
          </a:p>
        </p:txBody>
      </p:sp>
      <p:sp>
        <p:nvSpPr>
          <p:cNvPr id="3" name="Text Placeholder 2"/>
          <p:cNvSpPr>
            <a:spLocks noGrp="1"/>
          </p:cNvSpPr>
          <p:nvPr>
            <p:ph type="body" sz="half" idx="2"/>
          </p:nvPr>
        </p:nvSpPr>
        <p:spPr/>
        <p:txBody>
          <a:bodyPr/>
          <a:lstStyle/>
          <a:p>
            <a:r>
              <a:t>SMIL’s reconstruction relies on a small set of modality‑complete examples to learn priors, which may limit its effectiveness when complete data are extremely scarce or when more than two modalities are involved; the paper also does not explore scalability to large‑scale real‑world deployments.</a:t>
            </a:r>
          </a:p>
          <a:p>
            <a:r>
              <a:t>The study evaluates only on datasets where the missing modality is audio (avMNIST) or limited to the MM‑IMDb setting, and the reconstruction component relies on K‑means clustering, which may limit scalability to higher‑dimensional or more complex modalities.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Future work</a:t>
            </a:r>
          </a:p>
        </p:txBody>
      </p:sp>
      <p:sp>
        <p:nvSpPr>
          <p:cNvPr id="3" name="Text Placeholder 2"/>
          <p:cNvSpPr>
            <a:spLocks noGrp="1"/>
          </p:cNvSpPr>
          <p:nvPr>
            <p:ph type="body" sz="half" idx="2"/>
          </p:nvPr>
        </p:nvSpPr>
        <p:spPr/>
        <p:txBody>
          <a:bodyPr/>
          <a:lstStyle/>
          <a:p>
            <a:r>
              <a:t>Planned extensions include handling a larger number of modalities, improving prior‑learning and reconstruction quality under even harsher missing‑data regimes, and applying the framework to real‑world domains such as autonomous driving and privacy‑sensitive social‑network analysis.</a:t>
            </a:r>
          </a:p>
          <a:p>
            <a:r>
              <a:t>Future research could extend the framework to other modality combinations, explore alternative clustering or generative mechanisms for reconstruction, and assess scalability to larger, real‑world multimodal datasets with diverse missing patterns. {Inferred from the discussion of flexibility and the desire to apply the method to real‑world scenarios where “partial modalities are missing or hard to collect.”}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Practical applications</a:t>
            </a:r>
          </a:p>
        </p:txBody>
      </p:sp>
      <p:sp>
        <p:nvSpPr>
          <p:cNvPr id="3" name="Text Placeholder 2"/>
          <p:cNvSpPr>
            <a:spLocks noGrp="1"/>
          </p:cNvSpPr>
          <p:nvPr>
            <p:ph type="body" sz="half" idx="2"/>
          </p:nvPr>
        </p:nvSpPr>
        <p:spPr/>
        <p:txBody>
          <a:bodyPr/>
          <a:lstStyle/>
          <a:p>
            <a:r>
              <a:t>The ability to train robust multimodal models despite missing data enables applications in intelligent tutoring systems, robotics, healthcare diagnostics, autonomous vehicles, and privacy‑constrained social‑network analytics, where acquiring all modalities for every sample is often infeasible.</a:t>
            </a:r>
          </a:p>
          <a:p>
            <a:r>
              <a:t>The approach is suited for real‑world multimodal systems (e.g., audio‑visual recognition, multimedia retrieval) where some sensors or data streams may be unavailable or costly to acquire, enabling robust classification without requiring full modality capture.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Figure 1</a:t>
            </a:r>
          </a:p>
        </p:txBody>
      </p:sp>
      <p:sp>
        <p:nvSpPr>
          <p:cNvPr id="3" name="Text Placeholder 2"/>
          <p:cNvSpPr>
            <a:spLocks noGrp="1"/>
          </p:cNvSpPr>
          <p:nvPr>
            <p:ph type="body" sz="half" idx="2"/>
          </p:nvPr>
        </p:nvSpPr>
        <p:spPr/>
        <p:txBody>
          <a:bodyPr/>
          <a:lstStyle/>
          <a:p>
            <a:r>
              <a:t>Multimodal learning configurations. (a) Train and test with full and paired modality (Ngiam et al. 2011 ) ; (b) Testing with missing modality (Tsai et al. 2019 ) ; (c) Training with unpaired modality (Shi et al. 2020 ) ; (d) We study the most challenging configurations of severely missing modality in training, testing, or both</a:t>
            </a:r>
          </a:p>
        </p:txBody>
      </p:sp>
      <p:pic>
        <p:nvPicPr>
          <p:cNvPr id="4" name="Picture Placeholder 3" descr="image.jpg"/>
          <p:cNvPicPr>
            <a:picLocks noGrp="1" noChangeAspect="1"/>
          </p:cNvPicPr>
          <p:nvPr>
            <p:ph type="pic" sz="quarter" idx="10"/>
          </p:nvPr>
        </p:nvPicPr>
        <p:blipFill>
          <a:blip r:embed="rId2"/>
          <a:srcRect/>
          <a:stretch>
            <a:fillRect/>
          </a:stretch>
        </p:blip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Figure 2</a:t>
            </a:r>
          </a:p>
        </p:txBody>
      </p:sp>
      <p:sp>
        <p:nvSpPr>
          <p:cNvPr id="3" name="Text Placeholder 2"/>
          <p:cNvSpPr>
            <a:spLocks noGrp="1"/>
          </p:cNvSpPr>
          <p:nvPr>
            <p:ph type="body" sz="half" idx="2"/>
          </p:nvPr>
        </p:nvSpPr>
        <p:spPr/>
        <p:txBody>
          <a:bodyPr/>
          <a:lstStyle/>
          <a:p>
            <a:r>
              <a:t>SMIL can uniformly learn from severely missing modality and test with either single or full modality. The reconstruction network $\phi_{c}$ outputs a posterior distribution, from which we sample weight $\omega$ to reconstruct the missing modality using modality priors. The regularization network $\phi_{r}$ also outputs a posterior distribution, from which we sample regularizer $r$ to perturb latent features for smooth embedding. The collaboration ( $\phi_{c}$ and $\phi_{r}$ ) guarantees flexible and efficient learning</a:t>
            </a:r>
          </a:p>
        </p:txBody>
      </p:sp>
      <p:pic>
        <p:nvPicPr>
          <p:cNvPr id="4" name="Picture Placeholder 3" descr="image.jpg"/>
          <p:cNvPicPr>
            <a:picLocks noGrp="1" noChangeAspect="1"/>
          </p:cNvPicPr>
          <p:nvPr>
            <p:ph type="pic" sz="quarter" idx="10"/>
          </p:nvPr>
        </p:nvPicPr>
        <p:blipFill>
          <a:blip r:embed="rId2"/>
          <a:srcRect/>
          <a:stretch>
            <a:fillRect/>
          </a:stretch>
        </p:blip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Figure 3</a:t>
            </a:r>
          </a:p>
        </p:txBody>
      </p:sp>
      <p:sp>
        <p:nvSpPr>
          <p:cNvPr id="3" name="Text Placeholder 2"/>
          <p:cNvSpPr>
            <a:spLocks noGrp="1"/>
          </p:cNvSpPr>
          <p:nvPr>
            <p:ph type="body" sz="half" idx="2"/>
          </p:nvPr>
        </p:nvSpPr>
        <p:spPr/>
        <p:txBody>
          <a:bodyPr/>
          <a:lstStyle/>
          <a:p>
            <a:r>
              <a:t>Algorithm 1 Bayesian Meta-Learning Framework.</a:t>
            </a:r>
          </a:p>
        </p:txBody>
      </p:sp>
      <p:pic>
        <p:nvPicPr>
          <p:cNvPr id="4" name="Picture Placeholder 3" descr="image.jpg"/>
          <p:cNvPicPr>
            <a:picLocks noGrp="1" noChangeAspect="1"/>
          </p:cNvPicPr>
          <p:nvPr>
            <p:ph type="pic" sz="quarter" idx="10"/>
          </p:nvPr>
        </p:nvPicPr>
        <p:blipFill>
          <a:blip r:embed="rId2"/>
          <a:srcRect/>
          <a:stretch>
            <a:fillRect/>
          </a:stretch>
        </p:blip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Figure 4</a:t>
            </a:r>
          </a:p>
        </p:txBody>
      </p:sp>
      <p:sp>
        <p:nvSpPr>
          <p:cNvPr id="3" name="Text Placeholder 2"/>
          <p:cNvSpPr>
            <a:spLocks noGrp="1"/>
          </p:cNvSpPr>
          <p:nvPr>
            <p:ph type="body" sz="half" idx="2"/>
          </p:nvPr>
        </p:nvSpPr>
        <p:spPr/>
        <p:txBody>
          <a:bodyPr/>
          <a:lstStyle/>
          <a:p>
            <a:r>
              <a:t>F1 Samples score of each movie genre on the MM-IMDb dataset for the lower-bound baseline ( blue ) and SMIL ( red ). The number of image samples for each movie genre is indicated by the green line</a:t>
            </a:r>
          </a:p>
        </p:txBody>
      </p:sp>
      <p:pic>
        <p:nvPicPr>
          <p:cNvPr id="4" name="Picture Placeholder 3" descr="image.jpg"/>
          <p:cNvPicPr>
            <a:picLocks noGrp="1" noChangeAspect="1"/>
          </p:cNvPicPr>
          <p:nvPr>
            <p:ph type="pic" sz="quarter" idx="10"/>
          </p:nvPr>
        </p:nvPicPr>
        <p:blipFill>
          <a:blip r:embed="rId2"/>
          <a:srcRect/>
          <a:stretch>
            <a:fillRect/>
          </a:stretch>
        </p:blipFill>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Figure 5</a:t>
            </a:r>
          </a:p>
        </p:txBody>
      </p:sp>
      <p:sp>
        <p:nvSpPr>
          <p:cNvPr id="3" name="Text Placeholder 2"/>
          <p:cNvSpPr>
            <a:spLocks noGrp="1"/>
          </p:cNvSpPr>
          <p:nvPr>
            <p:ph type="body" sz="half" idx="2"/>
          </p:nvPr>
        </p:nvSpPr>
        <p:spPr/>
        <p:txBody>
          <a:bodyPr/>
          <a:lstStyle/>
          <a:p>
            <a:r>
              <a:t>Classification accuracy (%) on avMNIST with two missing patterns. Left : training with 100% Image + $\eta$ % Audio and testing with Image Only. Right : training with 100% Image + $\eta$ % Audio and testing with Image + Audio</a:t>
            </a:r>
          </a:p>
        </p:txBody>
      </p:sp>
      <p:pic>
        <p:nvPicPr>
          <p:cNvPr id="4" name="Picture Placeholder 3" descr="image.jpg"/>
          <p:cNvPicPr>
            <a:picLocks noGrp="1" noChangeAspect="1"/>
          </p:cNvPicPr>
          <p:nvPr>
            <p:ph type="pic" sz="quarter" idx="10"/>
          </p:nvPr>
        </p:nvPicPr>
        <p:blipFill>
          <a:blip r:embed="rId2"/>
          <a:srcRect/>
          <a:stretch>
            <a:fillRect/>
          </a:stretch>
        </p:blipFill>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5866</TotalTime>
  <Words>2473</Words>
  <Application>Microsoft Office PowerPoint</Application>
  <PresentationFormat>Widescreen</PresentationFormat>
  <Paragraphs>77</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Calibri Light</vt:lpstr>
      <vt:lpstr>Merriweather Sans</vt:lpstr>
      <vt:lpstr>MerriweatherSans-Book</vt:lpstr>
      <vt:lpstr>Office Theme</vt:lpstr>
      <vt:lpstr>[2103.05677] SMIL: Multimodal Learning with Severely Missing Modality</vt:lpstr>
      <vt:lpstr>Key concepts</vt:lpstr>
      <vt:lpstr>Abstract</vt:lpstr>
      <vt:lpstr>Builds on previous research</vt:lpstr>
      <vt:lpstr>Differs from previous work</vt:lpstr>
      <vt:lpstr>Snapshot</vt:lpstr>
      <vt:lpstr>Key findings</vt:lpstr>
      <vt:lpstr>Objectives</vt:lpstr>
      <vt:lpstr>Methods</vt:lpstr>
      <vt:lpstr>Results</vt:lpstr>
      <vt:lpstr>Conclusions</vt:lpstr>
      <vt:lpstr>Missing Pattern 1 (test Image Only)</vt:lpstr>
      <vt:lpstr>Missing Pattern 2 (test Image + Audio)</vt:lpstr>
      <vt:lpstr>Ablation On MM‑IMDb</vt:lpstr>
      <vt:lpstr>Study subjects</vt:lpstr>
      <vt:lpstr>Study analysis</vt:lpstr>
      <vt:lpstr>Study limitations</vt:lpstr>
      <vt:lpstr>Future work</vt:lpstr>
      <vt:lpstr>Practical applications</vt:lpstr>
      <vt:lpstr>Figure 1</vt:lpstr>
      <vt:lpstr>Figure 2</vt:lpstr>
      <vt:lpstr>Figure 3</vt:lpstr>
      <vt:lpstr>Figure 4</vt:lpstr>
      <vt:lpstr>Figure 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Read less. Learn more.</dc:title>
  <dc:creator>Gareth Healey</dc:creator>
  <cp:lastModifiedBy>Medhat Attia</cp:lastModifiedBy>
  <cp:revision>529</cp:revision>
  <cp:lastPrinted>2019-01-07T16:50:53Z</cp:lastPrinted>
  <dcterms:created xsi:type="dcterms:W3CDTF">2018-11-20T20:43:37Z</dcterms:created>
  <dcterms:modified xsi:type="dcterms:W3CDTF">2026-06-19T11:21:28Z</dcterms:modified>
</cp:coreProperties>
</file>